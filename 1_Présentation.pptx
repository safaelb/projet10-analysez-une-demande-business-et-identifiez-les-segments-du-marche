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316" r:id="rId10"/>
    <p:sldId id="317" r:id="rId11"/>
    <p:sldId id="318" r:id="rId12"/>
    <p:sldId id="298" r:id="rId13"/>
    <p:sldId id="299" r:id="rId14"/>
    <p:sldId id="266" r:id="rId15"/>
    <p:sldId id="267" r:id="rId16"/>
    <p:sldId id="268" r:id="rId17"/>
    <p:sldId id="303" r:id="rId18"/>
    <p:sldId id="269" r:id="rId19"/>
    <p:sldId id="300" r:id="rId20"/>
    <p:sldId id="302" r:id="rId21"/>
    <p:sldId id="304" r:id="rId22"/>
    <p:sldId id="301" r:id="rId23"/>
    <p:sldId id="307" r:id="rId24"/>
    <p:sldId id="305" r:id="rId25"/>
    <p:sldId id="270" r:id="rId26"/>
    <p:sldId id="271" r:id="rId27"/>
    <p:sldId id="309" r:id="rId28"/>
    <p:sldId id="306" r:id="rId29"/>
    <p:sldId id="272" r:id="rId30"/>
    <p:sldId id="308" r:id="rId31"/>
    <p:sldId id="311" r:id="rId32"/>
    <p:sldId id="312" r:id="rId33"/>
    <p:sldId id="313" r:id="rId34"/>
    <p:sldId id="314" r:id="rId35"/>
    <p:sldId id="315" r:id="rId36"/>
  </p:sldIdLst>
  <p:sldSz cx="9144000" cy="5143500" type="screen16x9"/>
  <p:notesSz cx="6858000" cy="9144000"/>
  <p:embeddedFontLst>
    <p:embeddedFont>
      <p:font typeface="Space Grotesk" panose="020B0604020202020204" charset="0"/>
      <p:regular r:id="rId38"/>
      <p:bold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Space Grotesk Light" panose="020B0604020202020204" charset="0"/>
      <p:regular r:id="rId44"/>
      <p:bold r:id="rId45"/>
    </p:embeddedFont>
    <p:embeddedFont>
      <p:font typeface="Dosis" pitchFamily="2" charset="0"/>
      <p:regular r:id="rId46"/>
      <p:bold r:id="rId47"/>
    </p:embeddedFont>
    <p:embeddedFont>
      <p:font typeface="Space Grotesk Medium" panose="020B0604020202020204" charset="0"/>
      <p:regular r:id="rId48"/>
      <p:bold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jdhnSw0mXkQg9u0bc1nEdsQBft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72DF2-5866-4BD9-90D9-472611E76D45}">
  <a:tblStyle styleId="{40272DF2-5866-4BD9-90D9-472611E76D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38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06818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8" name="Google Shape;22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903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4" name="Google Shape;22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8332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7" name="Google Shape;22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801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3" name="Google Shape;22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8595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9" name="Google Shape;22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2399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5" name="Google Shape;2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8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2" name="Google Shape;22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9292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8" name="Google Shape;23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0084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0" name="Google Shape;23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9065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6" name="Google Shape;23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3999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2" name="Google Shape;2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530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7907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5896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0" name="Google Shape;23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5460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66" name="Google Shape;23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697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>
            <a:spLocks noGrp="1"/>
          </p:cNvSpPr>
          <p:nvPr>
            <p:ph type="title"/>
          </p:nvPr>
        </p:nvSpPr>
        <p:spPr>
          <a:xfrm>
            <a:off x="1506398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ubTitle" idx="1"/>
          </p:nvPr>
        </p:nvSpPr>
        <p:spPr>
          <a:xfrm>
            <a:off x="1506390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title" idx="3"/>
          </p:nvPr>
        </p:nvSpPr>
        <p:spPr>
          <a:xfrm>
            <a:off x="1506523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title" idx="4"/>
          </p:nvPr>
        </p:nvSpPr>
        <p:spPr>
          <a:xfrm>
            <a:off x="730469" y="342502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ubTitle" idx="5"/>
          </p:nvPr>
        </p:nvSpPr>
        <p:spPr>
          <a:xfrm>
            <a:off x="1506514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title" idx="6"/>
          </p:nvPr>
        </p:nvSpPr>
        <p:spPr>
          <a:xfrm>
            <a:off x="5045226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subTitle" idx="8"/>
          </p:nvPr>
        </p:nvSpPr>
        <p:spPr>
          <a:xfrm>
            <a:off x="5045218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title" idx="9"/>
          </p:nvPr>
        </p:nvSpPr>
        <p:spPr>
          <a:xfrm>
            <a:off x="4282125" y="342502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44"/>
          <p:cNvGrpSpPr/>
          <p:nvPr/>
        </p:nvGrpSpPr>
        <p:grpSpPr>
          <a:xfrm>
            <a:off x="-3302090" y="-450720"/>
            <a:ext cx="4015313" cy="3884503"/>
            <a:chOff x="5440750" y="1669400"/>
            <a:chExt cx="971525" cy="939875"/>
          </a:xfrm>
        </p:grpSpPr>
        <p:sp>
          <p:nvSpPr>
            <p:cNvPr id="148" name="Google Shape;148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4"/>
          <p:cNvSpPr/>
          <p:nvPr/>
        </p:nvSpPr>
        <p:spPr>
          <a:xfrm>
            <a:off x="7013780" y="2081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4"/>
          <p:cNvGrpSpPr/>
          <p:nvPr/>
        </p:nvGrpSpPr>
        <p:grpSpPr>
          <a:xfrm>
            <a:off x="7000981" y="195816"/>
            <a:ext cx="849275" cy="848250"/>
            <a:chOff x="2651171" y="2397773"/>
            <a:chExt cx="2099568" cy="2097033"/>
          </a:xfrm>
        </p:grpSpPr>
        <p:sp>
          <p:nvSpPr>
            <p:cNvPr id="269" name="Google Shape;269;p44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44"/>
          <p:cNvGrpSpPr/>
          <p:nvPr/>
        </p:nvGrpSpPr>
        <p:grpSpPr>
          <a:xfrm>
            <a:off x="7263610" y="-297378"/>
            <a:ext cx="2216073" cy="1834889"/>
            <a:chOff x="2210400" y="2558550"/>
            <a:chExt cx="971025" cy="804000"/>
          </a:xfrm>
        </p:grpSpPr>
        <p:sp>
          <p:nvSpPr>
            <p:cNvPr id="272" name="Google Shape;272;p4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5978160" y="2286430"/>
            <a:ext cx="4015313" cy="3884503"/>
            <a:chOff x="5440750" y="1669400"/>
            <a:chExt cx="971525" cy="939875"/>
          </a:xfrm>
        </p:grpSpPr>
        <p:sp>
          <p:nvSpPr>
            <p:cNvPr id="281" name="Google Shape;281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>
            <a:spLocks noGrp="1"/>
          </p:cNvSpPr>
          <p:nvPr>
            <p:ph type="title" idx="13"/>
          </p:nvPr>
        </p:nvSpPr>
        <p:spPr>
          <a:xfrm>
            <a:off x="5045351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4"/>
          </p:nvPr>
        </p:nvSpPr>
        <p:spPr>
          <a:xfrm>
            <a:off x="5045342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1"/>
          </p:nvPr>
        </p:nvSpPr>
        <p:spPr>
          <a:xfrm>
            <a:off x="5449425" y="3203575"/>
            <a:ext cx="2998800" cy="604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5" name="Google Shape;445;p4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46" name="Google Shape;446;p46"/>
          <p:cNvGrpSpPr/>
          <p:nvPr/>
        </p:nvGrpSpPr>
        <p:grpSpPr>
          <a:xfrm rot="10800000" flipH="1">
            <a:off x="-1432565" y="-125795"/>
            <a:ext cx="4015313" cy="3884503"/>
            <a:chOff x="5440750" y="1669400"/>
            <a:chExt cx="971525" cy="939875"/>
          </a:xfrm>
        </p:grpSpPr>
        <p:sp>
          <p:nvSpPr>
            <p:cNvPr id="447" name="Google Shape;447;p46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6"/>
          <p:cNvGrpSpPr/>
          <p:nvPr/>
        </p:nvGrpSpPr>
        <p:grpSpPr>
          <a:xfrm>
            <a:off x="1147477" y="2947974"/>
            <a:ext cx="2872292" cy="2378232"/>
            <a:chOff x="2210400" y="2558550"/>
            <a:chExt cx="971025" cy="804000"/>
          </a:xfrm>
        </p:grpSpPr>
        <p:sp>
          <p:nvSpPr>
            <p:cNvPr id="567" name="Google Shape;567;p4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1392756" y="169091"/>
            <a:ext cx="849275" cy="848250"/>
            <a:chOff x="2651171" y="2397773"/>
            <a:chExt cx="2099568" cy="2097033"/>
          </a:xfrm>
        </p:grpSpPr>
        <p:sp>
          <p:nvSpPr>
            <p:cNvPr id="576" name="Google Shape;576;p46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1" name="Google Shape;581;p47"/>
          <p:cNvGrpSpPr/>
          <p:nvPr/>
        </p:nvGrpSpPr>
        <p:grpSpPr>
          <a:xfrm>
            <a:off x="7407435" y="2879891"/>
            <a:ext cx="849275" cy="848250"/>
            <a:chOff x="8751122" y="1283566"/>
            <a:chExt cx="849275" cy="848250"/>
          </a:xfrm>
        </p:grpSpPr>
        <p:sp>
          <p:nvSpPr>
            <p:cNvPr id="582" name="Google Shape;582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584" name="Google Shape;584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6" name="Google Shape;586;p47"/>
          <p:cNvGrpSpPr/>
          <p:nvPr/>
        </p:nvGrpSpPr>
        <p:grpSpPr>
          <a:xfrm flipH="1">
            <a:off x="5896360" y="1526509"/>
            <a:ext cx="4030417" cy="3337154"/>
            <a:chOff x="3573297" y="232872"/>
            <a:chExt cx="5470164" cy="4529254"/>
          </a:xfrm>
        </p:grpSpPr>
        <p:sp>
          <p:nvSpPr>
            <p:cNvPr id="587" name="Google Shape;587;p4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 flipH="1">
            <a:off x="6009660" y="227499"/>
            <a:ext cx="2872292" cy="2378232"/>
            <a:chOff x="2210400" y="2558550"/>
            <a:chExt cx="971025" cy="804000"/>
          </a:xfrm>
        </p:grpSpPr>
        <p:sp>
          <p:nvSpPr>
            <p:cNvPr id="596" name="Google Shape;596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47"/>
          <p:cNvGrpSpPr/>
          <p:nvPr/>
        </p:nvGrpSpPr>
        <p:grpSpPr>
          <a:xfrm flipH="1">
            <a:off x="7973021" y="1064981"/>
            <a:ext cx="849356" cy="703259"/>
            <a:chOff x="2210400" y="2558550"/>
            <a:chExt cx="971025" cy="804000"/>
          </a:xfrm>
        </p:grpSpPr>
        <p:sp>
          <p:nvSpPr>
            <p:cNvPr id="605" name="Google Shape;605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47"/>
          <p:cNvGrpSpPr/>
          <p:nvPr/>
        </p:nvGrpSpPr>
        <p:grpSpPr>
          <a:xfrm>
            <a:off x="8979722" y="1283566"/>
            <a:ext cx="849275" cy="848250"/>
            <a:chOff x="8751122" y="1283566"/>
            <a:chExt cx="849275" cy="848250"/>
          </a:xfrm>
        </p:grpSpPr>
        <p:sp>
          <p:nvSpPr>
            <p:cNvPr id="614" name="Google Shape;614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16" name="Google Shape;616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47"/>
          <p:cNvSpPr/>
          <p:nvPr/>
        </p:nvSpPr>
        <p:spPr>
          <a:xfrm flipH="1">
            <a:off x="6112238" y="36430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21" name="Google Shape;621;p48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622" name="Google Shape;622;p4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-127072" y="4085003"/>
            <a:ext cx="1067211" cy="1065922"/>
            <a:chOff x="2651171" y="2397773"/>
            <a:chExt cx="2099568" cy="2097033"/>
          </a:xfrm>
        </p:grpSpPr>
        <p:sp>
          <p:nvSpPr>
            <p:cNvPr id="646" name="Google Shape;646;p48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7249668" y="4045148"/>
            <a:ext cx="572715" cy="572715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0"/>
                </a:moveTo>
                <a:lnTo>
                  <a:pt x="0" y="6197"/>
                </a:lnTo>
                <a:lnTo>
                  <a:pt x="6179" y="12376"/>
                </a:lnTo>
                <a:lnTo>
                  <a:pt x="12376" y="6197"/>
                </a:lnTo>
                <a:lnTo>
                  <a:pt x="6179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48"/>
          <p:cNvGrpSpPr/>
          <p:nvPr/>
        </p:nvGrpSpPr>
        <p:grpSpPr>
          <a:xfrm>
            <a:off x="7009646" y="2171158"/>
            <a:ext cx="3966057" cy="4359080"/>
            <a:chOff x="5440750" y="1541475"/>
            <a:chExt cx="971525" cy="1067800"/>
          </a:xfrm>
        </p:grpSpPr>
        <p:sp>
          <p:nvSpPr>
            <p:cNvPr id="651" name="Google Shape;651;p48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9"/>
          <p:cNvGrpSpPr/>
          <p:nvPr/>
        </p:nvGrpSpPr>
        <p:grpSpPr>
          <a:xfrm>
            <a:off x="2787991" y="1287889"/>
            <a:ext cx="3563418" cy="3276021"/>
            <a:chOff x="4765450" y="2817950"/>
            <a:chExt cx="894275" cy="822150"/>
          </a:xfrm>
        </p:grpSpPr>
        <p:sp>
          <p:nvSpPr>
            <p:cNvPr id="666" name="Google Shape;666;p4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49"/>
          <p:cNvGrpSpPr/>
          <p:nvPr/>
        </p:nvGrpSpPr>
        <p:grpSpPr>
          <a:xfrm>
            <a:off x="7185910" y="-217751"/>
            <a:ext cx="2872292" cy="2378232"/>
            <a:chOff x="2210400" y="2558550"/>
            <a:chExt cx="971025" cy="804000"/>
          </a:xfrm>
        </p:grpSpPr>
        <p:sp>
          <p:nvSpPr>
            <p:cNvPr id="671" name="Google Shape;671;p4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49"/>
          <p:cNvGrpSpPr/>
          <p:nvPr/>
        </p:nvGrpSpPr>
        <p:grpSpPr>
          <a:xfrm flipH="1">
            <a:off x="8813326" y="-9"/>
            <a:ext cx="849275" cy="848250"/>
            <a:chOff x="8751122" y="1283566"/>
            <a:chExt cx="849275" cy="848250"/>
          </a:xfrm>
        </p:grpSpPr>
        <p:sp>
          <p:nvSpPr>
            <p:cNvPr id="680" name="Google Shape;680;p49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49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82" name="Google Shape;682;p49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9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4" name="Google Shape;684;p49"/>
          <p:cNvGrpSpPr/>
          <p:nvPr/>
        </p:nvGrpSpPr>
        <p:grpSpPr>
          <a:xfrm>
            <a:off x="-259090" y="4167881"/>
            <a:ext cx="1142271" cy="1145681"/>
            <a:chOff x="6167975" y="2118400"/>
            <a:chExt cx="150775" cy="151225"/>
          </a:xfrm>
        </p:grpSpPr>
        <p:sp>
          <p:nvSpPr>
            <p:cNvPr id="685" name="Google Shape;685;p49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49"/>
          <p:cNvGrpSpPr/>
          <p:nvPr/>
        </p:nvGrpSpPr>
        <p:grpSpPr>
          <a:xfrm>
            <a:off x="-269226" y="3517179"/>
            <a:ext cx="1162531" cy="1161127"/>
            <a:chOff x="2651171" y="2397773"/>
            <a:chExt cx="2099568" cy="2097033"/>
          </a:xfrm>
        </p:grpSpPr>
        <p:sp>
          <p:nvSpPr>
            <p:cNvPr id="688" name="Google Shape;688;p49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49"/>
          <p:cNvSpPr/>
          <p:nvPr/>
        </p:nvSpPr>
        <p:spPr>
          <a:xfrm>
            <a:off x="7472262" y="127554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9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2" name="Google Shape;692;p49"/>
          <p:cNvSpPr txBox="1">
            <a:spLocks noGrp="1"/>
          </p:cNvSpPr>
          <p:nvPr>
            <p:ph type="subTitle" idx="1"/>
          </p:nvPr>
        </p:nvSpPr>
        <p:spPr>
          <a:xfrm>
            <a:off x="8832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49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ubTitle" idx="3"/>
          </p:nvPr>
        </p:nvSpPr>
        <p:spPr>
          <a:xfrm>
            <a:off x="8832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49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49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subTitle" idx="13"/>
          </p:nvPr>
        </p:nvSpPr>
        <p:spPr>
          <a:xfrm>
            <a:off x="60927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49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3" name="Google Shape;703;p49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6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706" name="Google Shape;706;p50"/>
          <p:cNvGrpSpPr/>
          <p:nvPr/>
        </p:nvGrpSpPr>
        <p:grpSpPr>
          <a:xfrm rot="10800000" flipH="1">
            <a:off x="-1801065" y="629505"/>
            <a:ext cx="4015313" cy="3884503"/>
            <a:chOff x="5440750" y="1669400"/>
            <a:chExt cx="971525" cy="939875"/>
          </a:xfrm>
        </p:grpSpPr>
        <p:sp>
          <p:nvSpPr>
            <p:cNvPr id="707" name="Google Shape;707;p50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0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0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0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0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0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0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0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0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0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0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0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0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0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0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0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0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0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0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0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0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0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0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0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0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0"/>
          <p:cNvGrpSpPr/>
          <p:nvPr/>
        </p:nvGrpSpPr>
        <p:grpSpPr>
          <a:xfrm>
            <a:off x="8502856" y="115366"/>
            <a:ext cx="849275" cy="848250"/>
            <a:chOff x="2651171" y="2397773"/>
            <a:chExt cx="2099568" cy="2097033"/>
          </a:xfrm>
        </p:grpSpPr>
        <p:sp>
          <p:nvSpPr>
            <p:cNvPr id="827" name="Google Shape;827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50"/>
          <p:cNvGrpSpPr/>
          <p:nvPr/>
        </p:nvGrpSpPr>
        <p:grpSpPr>
          <a:xfrm>
            <a:off x="8163956" y="115366"/>
            <a:ext cx="849275" cy="848250"/>
            <a:chOff x="2651171" y="2397773"/>
            <a:chExt cx="2099568" cy="2097033"/>
          </a:xfrm>
        </p:grpSpPr>
        <p:sp>
          <p:nvSpPr>
            <p:cNvPr id="830" name="Google Shape;830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3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1"/>
          <p:cNvSpPr txBox="1">
            <a:spLocks noGrp="1"/>
          </p:cNvSpPr>
          <p:nvPr>
            <p:ph type="title"/>
          </p:nvPr>
        </p:nvSpPr>
        <p:spPr>
          <a:xfrm>
            <a:off x="1653086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4" name="Google Shape;834;p51"/>
          <p:cNvSpPr txBox="1">
            <a:spLocks noGrp="1"/>
          </p:cNvSpPr>
          <p:nvPr>
            <p:ph type="subTitle" idx="1"/>
          </p:nvPr>
        </p:nvSpPr>
        <p:spPr>
          <a:xfrm>
            <a:off x="1653074" y="190736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51"/>
          <p:cNvSpPr txBox="1">
            <a:spLocks noGrp="1"/>
          </p:cNvSpPr>
          <p:nvPr>
            <p:ph type="title" idx="2"/>
          </p:nvPr>
        </p:nvSpPr>
        <p:spPr>
          <a:xfrm>
            <a:off x="5570882" y="148112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6" name="Google Shape;836;p51"/>
          <p:cNvSpPr txBox="1">
            <a:spLocks noGrp="1"/>
          </p:cNvSpPr>
          <p:nvPr>
            <p:ph type="subTitle" idx="3"/>
          </p:nvPr>
        </p:nvSpPr>
        <p:spPr>
          <a:xfrm>
            <a:off x="5570875" y="1907500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7" name="Google Shape;837;p51"/>
          <p:cNvGrpSpPr/>
          <p:nvPr/>
        </p:nvGrpSpPr>
        <p:grpSpPr>
          <a:xfrm>
            <a:off x="-534234" y="2591589"/>
            <a:ext cx="3563418" cy="3276021"/>
            <a:chOff x="4765450" y="2817950"/>
            <a:chExt cx="894275" cy="822150"/>
          </a:xfrm>
        </p:grpSpPr>
        <p:sp>
          <p:nvSpPr>
            <p:cNvPr id="838" name="Google Shape;838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51"/>
          <p:cNvGrpSpPr/>
          <p:nvPr/>
        </p:nvGrpSpPr>
        <p:grpSpPr>
          <a:xfrm>
            <a:off x="666212" y="4424016"/>
            <a:ext cx="1162531" cy="1161127"/>
            <a:chOff x="7253149" y="3334154"/>
            <a:chExt cx="1162531" cy="1161127"/>
          </a:xfrm>
        </p:grpSpPr>
        <p:sp>
          <p:nvSpPr>
            <p:cNvPr id="843" name="Google Shape;843;p51"/>
            <p:cNvSpPr/>
            <p:nvPr/>
          </p:nvSpPr>
          <p:spPr>
            <a:xfrm>
              <a:off x="7422442" y="35027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4" name="Google Shape;844;p51"/>
            <p:cNvGrpSpPr/>
            <p:nvPr/>
          </p:nvGrpSpPr>
          <p:grpSpPr>
            <a:xfrm>
              <a:off x="7253149" y="3334154"/>
              <a:ext cx="1162531" cy="1161127"/>
              <a:chOff x="2651171" y="2397773"/>
              <a:chExt cx="2099568" cy="2097033"/>
            </a:xfrm>
          </p:grpSpPr>
          <p:sp>
            <p:nvSpPr>
              <p:cNvPr id="845" name="Google Shape;845;p51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51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7" name="Google Shape;847;p51"/>
          <p:cNvGrpSpPr/>
          <p:nvPr/>
        </p:nvGrpSpPr>
        <p:grpSpPr>
          <a:xfrm>
            <a:off x="7582096" y="290150"/>
            <a:ext cx="1162705" cy="962710"/>
            <a:chOff x="2210400" y="2558550"/>
            <a:chExt cx="971025" cy="804000"/>
          </a:xfrm>
        </p:grpSpPr>
        <p:sp>
          <p:nvSpPr>
            <p:cNvPr id="848" name="Google Shape;848;p51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51"/>
          <p:cNvGrpSpPr/>
          <p:nvPr/>
        </p:nvGrpSpPr>
        <p:grpSpPr>
          <a:xfrm>
            <a:off x="7415915" y="125143"/>
            <a:ext cx="3960194" cy="4417325"/>
            <a:chOff x="4665875" y="2544104"/>
            <a:chExt cx="993850" cy="1108571"/>
          </a:xfrm>
        </p:grpSpPr>
        <p:sp>
          <p:nvSpPr>
            <p:cNvPr id="857" name="Google Shape;857;p51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4665875" y="2544104"/>
              <a:ext cx="316425" cy="316425"/>
            </a:xfrm>
            <a:custGeom>
              <a:avLst/>
              <a:gdLst/>
              <a:ahLst/>
              <a:cxnLst/>
              <a:rect l="l" t="t" r="r" b="b"/>
              <a:pathLst>
                <a:path w="12657" h="12657" extrusionOk="0">
                  <a:moveTo>
                    <a:pt x="6329" y="1"/>
                  </a:moveTo>
                  <a:lnTo>
                    <a:pt x="1" y="6328"/>
                  </a:lnTo>
                  <a:lnTo>
                    <a:pt x="6329" y="12656"/>
                  </a:lnTo>
                  <a:lnTo>
                    <a:pt x="12656" y="6328"/>
                  </a:lnTo>
                  <a:lnTo>
                    <a:pt x="632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4920850" y="3013825"/>
              <a:ext cx="358275" cy="358275"/>
            </a:xfrm>
            <a:custGeom>
              <a:avLst/>
              <a:gdLst/>
              <a:ahLst/>
              <a:cxnLst/>
              <a:rect l="l" t="t" r="r" b="b"/>
              <a:pathLst>
                <a:path w="14331" h="14331" extrusionOk="0">
                  <a:moveTo>
                    <a:pt x="7165" y="1"/>
                  </a:moveTo>
                  <a:lnTo>
                    <a:pt x="0" y="7166"/>
                  </a:lnTo>
                  <a:lnTo>
                    <a:pt x="7165" y="14331"/>
                  </a:lnTo>
                  <a:lnTo>
                    <a:pt x="14331" y="7166"/>
                  </a:lnTo>
                  <a:lnTo>
                    <a:pt x="7165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4915725" y="3008700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4982725" y="3075700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6" name="Google Shape;866;p51"/>
          <p:cNvSpPr txBox="1">
            <a:spLocks noGrp="1"/>
          </p:cNvSpPr>
          <p:nvPr>
            <p:ph type="title" idx="4"/>
          </p:nvPr>
        </p:nvSpPr>
        <p:spPr>
          <a:xfrm>
            <a:off x="1653086" y="3186485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7" name="Google Shape;867;p51"/>
          <p:cNvSpPr txBox="1">
            <a:spLocks noGrp="1"/>
          </p:cNvSpPr>
          <p:nvPr>
            <p:ph type="subTitle" idx="5"/>
          </p:nvPr>
        </p:nvSpPr>
        <p:spPr>
          <a:xfrm>
            <a:off x="1653074" y="3629949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1"/>
          <p:cNvSpPr txBox="1">
            <a:spLocks noGrp="1"/>
          </p:cNvSpPr>
          <p:nvPr>
            <p:ph type="title" idx="6"/>
          </p:nvPr>
        </p:nvSpPr>
        <p:spPr>
          <a:xfrm>
            <a:off x="5570882" y="3186613"/>
            <a:ext cx="2653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9" name="Google Shape;869;p51"/>
          <p:cNvSpPr txBox="1">
            <a:spLocks noGrp="1"/>
          </p:cNvSpPr>
          <p:nvPr>
            <p:ph type="subTitle" idx="7"/>
          </p:nvPr>
        </p:nvSpPr>
        <p:spPr>
          <a:xfrm>
            <a:off x="5570875" y="3630075"/>
            <a:ext cx="265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1"/>
          <p:cNvSpPr txBox="1">
            <a:spLocks noGrp="1"/>
          </p:cNvSpPr>
          <p:nvPr>
            <p:ph type="title" idx="8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5"/>
          <p:cNvSpPr/>
          <p:nvPr/>
        </p:nvSpPr>
        <p:spPr>
          <a:xfrm flipH="1">
            <a:off x="102342" y="102777"/>
            <a:ext cx="724127" cy="72630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4" name="Google Shape;2154;p75"/>
          <p:cNvGrpSpPr/>
          <p:nvPr/>
        </p:nvGrpSpPr>
        <p:grpSpPr>
          <a:xfrm flipH="1">
            <a:off x="-603882" y="-418180"/>
            <a:ext cx="2136578" cy="1768212"/>
            <a:chOff x="5440750" y="1669400"/>
            <a:chExt cx="971525" cy="804025"/>
          </a:xfrm>
        </p:grpSpPr>
        <p:sp>
          <p:nvSpPr>
            <p:cNvPr id="2155" name="Google Shape;215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75"/>
          <p:cNvGrpSpPr/>
          <p:nvPr/>
        </p:nvGrpSpPr>
        <p:grpSpPr>
          <a:xfrm>
            <a:off x="-1110993" y="1389236"/>
            <a:ext cx="2429466" cy="2063219"/>
            <a:chOff x="4665875" y="2808650"/>
            <a:chExt cx="993850" cy="844025"/>
          </a:xfrm>
        </p:grpSpPr>
        <p:sp>
          <p:nvSpPr>
            <p:cNvPr id="2167" name="Google Shape;2167;p75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75"/>
          <p:cNvGrpSpPr/>
          <p:nvPr/>
        </p:nvGrpSpPr>
        <p:grpSpPr>
          <a:xfrm flipH="1">
            <a:off x="6738226" y="2911751"/>
            <a:ext cx="3525470" cy="3410618"/>
            <a:chOff x="5440750" y="1669400"/>
            <a:chExt cx="971525" cy="939875"/>
          </a:xfrm>
        </p:grpSpPr>
        <p:sp>
          <p:nvSpPr>
            <p:cNvPr id="2175" name="Google Shape;217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7" name="Google Shape;2187;p75"/>
          <p:cNvGrpSpPr/>
          <p:nvPr/>
        </p:nvGrpSpPr>
        <p:grpSpPr>
          <a:xfrm rot="5400000">
            <a:off x="6875511" y="1422360"/>
            <a:ext cx="2695006" cy="2887947"/>
            <a:chOff x="5440750" y="1669400"/>
            <a:chExt cx="975815" cy="1045676"/>
          </a:xfrm>
        </p:grpSpPr>
        <p:sp>
          <p:nvSpPr>
            <p:cNvPr id="2188" name="Google Shape;2188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6107140" y="2405651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1" name="Google Shape;2201;p76"/>
          <p:cNvGrpSpPr/>
          <p:nvPr/>
        </p:nvGrpSpPr>
        <p:grpSpPr>
          <a:xfrm rot="10800000" flipH="1">
            <a:off x="-1215840" y="503176"/>
            <a:ext cx="2872823" cy="2439739"/>
            <a:chOff x="4665875" y="2808650"/>
            <a:chExt cx="993850" cy="844025"/>
          </a:xfrm>
        </p:grpSpPr>
        <p:sp>
          <p:nvSpPr>
            <p:cNvPr id="2202" name="Google Shape;220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6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6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9" name="Google Shape;2209;p76"/>
          <p:cNvGrpSpPr/>
          <p:nvPr/>
        </p:nvGrpSpPr>
        <p:grpSpPr>
          <a:xfrm rot="10800000" flipH="1">
            <a:off x="-309809" y="2691848"/>
            <a:ext cx="2872292" cy="2378232"/>
            <a:chOff x="2210400" y="2558550"/>
            <a:chExt cx="971025" cy="804000"/>
          </a:xfrm>
        </p:grpSpPr>
        <p:sp>
          <p:nvSpPr>
            <p:cNvPr id="2210" name="Google Shape;2210;p7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8" name="Google Shape;2218;p76"/>
          <p:cNvSpPr/>
          <p:nvPr/>
        </p:nvSpPr>
        <p:spPr>
          <a:xfrm rot="10800000" flipH="1">
            <a:off x="-94215" y="308110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6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76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1" name="Google Shape;2221;p76"/>
          <p:cNvGrpSpPr/>
          <p:nvPr/>
        </p:nvGrpSpPr>
        <p:grpSpPr>
          <a:xfrm flipH="1">
            <a:off x="6947190" y="-119799"/>
            <a:ext cx="3563418" cy="3276021"/>
            <a:chOff x="4765450" y="2817950"/>
            <a:chExt cx="894275" cy="822150"/>
          </a:xfrm>
        </p:grpSpPr>
        <p:sp>
          <p:nvSpPr>
            <p:cNvPr id="2222" name="Google Shape;222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198662" scaled="0"/>
        </a:gra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"/>
          <p:cNvSpPr txBox="1">
            <a:spLocks noGrp="1"/>
          </p:cNvSpPr>
          <p:nvPr>
            <p:ph type="ctrTitle"/>
          </p:nvPr>
        </p:nvSpPr>
        <p:spPr>
          <a:xfrm>
            <a:off x="682500" y="642209"/>
            <a:ext cx="5808355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3200" b="1" dirty="0"/>
              <a:t>Analyse du Marché des Jeux Vidéo</a:t>
            </a:r>
            <a:br>
              <a:rPr lang="fr-FR" sz="3200" b="1" dirty="0"/>
            </a:br>
            <a:r>
              <a:rPr lang="fr-FR" sz="3200" b="1" dirty="0"/>
              <a:t>&amp; Recommandation de Genre</a:t>
            </a:r>
            <a:endParaRPr sz="32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60" y="3837710"/>
            <a:ext cx="4726132" cy="10183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2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Space Grotesk Light"/>
                <a:ea typeface="Space Grotesk Light"/>
                <a:cs typeface="Space Grotesk Light"/>
                <a:sym typeface="Space Grotesk Light"/>
              </a:rPr>
              <a:t>Sommaire</a:t>
            </a:r>
            <a:endParaRPr b="1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7" name="Google Shape;2237;p2"/>
          <p:cNvSpPr txBox="1">
            <a:spLocks noGrp="1"/>
          </p:cNvSpPr>
          <p:nvPr>
            <p:ph type="title"/>
          </p:nvPr>
        </p:nvSpPr>
        <p:spPr>
          <a:xfrm>
            <a:off x="1506523" y="1651928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/>
              <a:t>Le contexte</a:t>
            </a:r>
            <a:endParaRPr sz="1600" dirty="0"/>
          </a:p>
        </p:txBody>
      </p:sp>
      <p:sp>
        <p:nvSpPr>
          <p:cNvPr id="2238" name="Google Shape;2238;p2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 dirty="0"/>
          </a:p>
        </p:txBody>
      </p:sp>
      <p:sp>
        <p:nvSpPr>
          <p:cNvPr id="2239" name="Google Shape;2239;p2"/>
          <p:cNvSpPr txBox="1">
            <a:spLocks noGrp="1"/>
          </p:cNvSpPr>
          <p:nvPr>
            <p:ph type="title" idx="3"/>
          </p:nvPr>
        </p:nvSpPr>
        <p:spPr>
          <a:xfrm>
            <a:off x="1506401" y="2571751"/>
            <a:ext cx="2684094" cy="71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 dirty="0"/>
              <a:t>Analyses des tendances actuelles</a:t>
            </a:r>
            <a:endParaRPr sz="1600" dirty="0"/>
          </a:p>
        </p:txBody>
      </p:sp>
      <p:sp>
        <p:nvSpPr>
          <p:cNvPr id="2240" name="Google Shape;2240;p2"/>
          <p:cNvSpPr txBox="1">
            <a:spLocks noGrp="1"/>
          </p:cNvSpPr>
          <p:nvPr>
            <p:ph type="title" idx="4"/>
          </p:nvPr>
        </p:nvSpPr>
        <p:spPr>
          <a:xfrm>
            <a:off x="730469" y="2725599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 dirty="0"/>
          </a:p>
        </p:txBody>
      </p:sp>
      <p:sp>
        <p:nvSpPr>
          <p:cNvPr id="2241" name="Google Shape;2241;p2"/>
          <p:cNvSpPr txBox="1">
            <a:spLocks noGrp="1"/>
          </p:cNvSpPr>
          <p:nvPr>
            <p:ph type="title" idx="6"/>
          </p:nvPr>
        </p:nvSpPr>
        <p:spPr>
          <a:xfrm>
            <a:off x="5058350" y="1648503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/>
              <a:t>La matrice SWOT</a:t>
            </a:r>
            <a:endParaRPr sz="1600" dirty="0"/>
          </a:p>
        </p:txBody>
      </p:sp>
      <p:sp>
        <p:nvSpPr>
          <p:cNvPr id="2242" name="Google Shape;2242;p2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2243" name="Google Shape;2243;p2"/>
          <p:cNvSpPr txBox="1">
            <a:spLocks noGrp="1"/>
          </p:cNvSpPr>
          <p:nvPr>
            <p:ph type="title" idx="13"/>
          </p:nvPr>
        </p:nvSpPr>
        <p:spPr>
          <a:xfrm>
            <a:off x="5058350" y="2640612"/>
            <a:ext cx="2574300" cy="6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/>
              <a:t>Les futures tendances et perspectives</a:t>
            </a:r>
            <a:endParaRPr sz="1600" dirty="0"/>
          </a:p>
        </p:txBody>
      </p:sp>
      <p:sp>
        <p:nvSpPr>
          <p:cNvPr id="2244" name="Google Shape;2244;p2"/>
          <p:cNvSpPr txBox="1">
            <a:spLocks noGrp="1"/>
          </p:cNvSpPr>
          <p:nvPr>
            <p:ph type="title" idx="9"/>
          </p:nvPr>
        </p:nvSpPr>
        <p:spPr>
          <a:xfrm>
            <a:off x="4282125" y="2725599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 dirty="0"/>
          </a:p>
        </p:txBody>
      </p:sp>
      <p:sp>
        <p:nvSpPr>
          <p:cNvPr id="2245" name="Google Shape;2245;p2"/>
          <p:cNvSpPr txBox="1"/>
          <p:nvPr/>
        </p:nvSpPr>
        <p:spPr>
          <a:xfrm>
            <a:off x="1451626" y="3501106"/>
            <a:ext cx="2684094" cy="65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en" sz="1600" b="0" i="0" u="none" strike="noStrike" cap="none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Analyses </a:t>
            </a:r>
            <a:r>
              <a:rPr lang="en" sz="1600" b="0" i="0" u="none" strike="noStrike" cap="none" dirty="0" smtClean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des segments</a:t>
            </a:r>
            <a:endParaRPr dirty="0"/>
          </a:p>
        </p:txBody>
      </p:sp>
      <p:sp>
        <p:nvSpPr>
          <p:cNvPr id="2246" name="Google Shape;2246;p2"/>
          <p:cNvSpPr txBox="1"/>
          <p:nvPr/>
        </p:nvSpPr>
        <p:spPr>
          <a:xfrm>
            <a:off x="730469" y="3739523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dirty="0"/>
          </a:p>
        </p:txBody>
      </p:sp>
      <p:sp>
        <p:nvSpPr>
          <p:cNvPr id="2247" name="Google Shape;2247;p2"/>
          <p:cNvSpPr txBox="1"/>
          <p:nvPr/>
        </p:nvSpPr>
        <p:spPr>
          <a:xfrm>
            <a:off x="5058350" y="3695220"/>
            <a:ext cx="2574300" cy="65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Recommandations stratégiques</a:t>
            </a:r>
            <a:endParaRPr dirty="0"/>
          </a:p>
        </p:txBody>
      </p:sp>
      <p:sp>
        <p:nvSpPr>
          <p:cNvPr id="2248" name="Google Shape;2248;p2"/>
          <p:cNvSpPr txBox="1"/>
          <p:nvPr/>
        </p:nvSpPr>
        <p:spPr>
          <a:xfrm>
            <a:off x="4282125" y="3739523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en" sz="33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Le contexte</a:t>
            </a:r>
            <a:endParaRPr dirty="0"/>
          </a:p>
        </p:txBody>
      </p:sp>
      <p:sp>
        <p:nvSpPr>
          <p:cNvPr id="2260" name="Google Shape;2260;p4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01</a:t>
            </a:r>
            <a:endParaRPr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5"/>
          <p:cNvSpPr txBox="1">
            <a:spLocks noGrp="1"/>
          </p:cNvSpPr>
          <p:nvPr>
            <p:ph type="title"/>
          </p:nvPr>
        </p:nvSpPr>
        <p:spPr>
          <a:xfrm>
            <a:off x="512819" y="23540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Définir le contexte</a:t>
            </a:r>
            <a:endParaRPr dirty="0"/>
          </a:p>
        </p:txBody>
      </p:sp>
      <p:sp>
        <p:nvSpPr>
          <p:cNvPr id="2266" name="Google Shape;2266;p5"/>
          <p:cNvSpPr txBox="1">
            <a:spLocks noGrp="1"/>
          </p:cNvSpPr>
          <p:nvPr>
            <p:ph type="subTitle" idx="1"/>
          </p:nvPr>
        </p:nvSpPr>
        <p:spPr>
          <a:xfrm>
            <a:off x="274312" y="1689988"/>
            <a:ext cx="8354575" cy="313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u="sng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b="1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ontexte </a:t>
            </a:r>
            <a:r>
              <a:rPr lang="en-US" b="1" u="sng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lvl="0" indent="0"/>
            <a:r>
              <a:rPr lang="fr-FR" dirty="0" smtClean="0"/>
              <a:t>UOI </a:t>
            </a:r>
            <a:r>
              <a:rPr lang="fr-FR" dirty="0"/>
              <a:t>Games, une entreprise spécialisée dans l’industrie du jeu vidéo, s’associe à ESN Data pour développer son premier jeu Triple A.</a:t>
            </a:r>
          </a:p>
          <a:p>
            <a:pPr marL="0" indent="0"/>
            <a:endParaRPr lang="en-US" b="1" dirty="0" smtClean="0">
              <a:solidFill>
                <a:schemeClr val="bg2">
                  <a:lumMod val="40000"/>
                  <a:lumOff val="6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/>
            <a:r>
              <a:rPr lang="en-US" b="1" u="sng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la mission :</a:t>
            </a:r>
            <a:endParaRPr lang="fr-FR" b="1" u="sng" dirty="0">
              <a:solidFill>
                <a:schemeClr val="bg2">
                  <a:lumMod val="40000"/>
                  <a:lumOff val="6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/>
            <a:r>
              <a:rPr lang="en-US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fr-FR" b="1" dirty="0" smtClean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r>
              <a:rPr lang="en-US" b="1" dirty="0" smtClean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tendances actuelles et émergentes (SWOT, 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PESTEL)</a:t>
            </a:r>
          </a:p>
          <a:p>
            <a:pPr marL="0" indent="0"/>
            <a:r>
              <a:rPr lang="en-US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fr-FR" b="1" dirty="0" smtClean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</a:t>
            </a:r>
            <a:r>
              <a:rPr lang="en-US" b="1" dirty="0" smtClean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et identifier les clients cibles</a:t>
            </a:r>
            <a:endParaRPr lang="en-US" dirty="0">
              <a:solidFill>
                <a:schemeClr val="tx2"/>
              </a:solidFill>
            </a:endParaRPr>
          </a:p>
          <a:p>
            <a:pPr marL="0" indent="0"/>
            <a:r>
              <a:rPr lang="en-US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Évaluer 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monétisation et les dépenses par segment</a:t>
            </a:r>
            <a:endParaRPr lang="en-US" dirty="0">
              <a:solidFill>
                <a:schemeClr val="tx2"/>
              </a:solidFill>
            </a:endParaRPr>
          </a:p>
          <a:p>
            <a:pPr marL="0" indent="0"/>
            <a:r>
              <a:rPr lang="en-US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b="1" dirty="0" smtClean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</a:t>
            </a: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recommandations pour un AAA à lancer</a:t>
            </a:r>
            <a:endParaRPr lang="en-US" dirty="0">
              <a:solidFill>
                <a:schemeClr val="tx2"/>
              </a:solidFill>
            </a:endParaRPr>
          </a:p>
          <a:p>
            <a:pPr marL="0" lvl="0" indent="0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La matrice SWOT</a:t>
            </a:r>
            <a:endParaRPr dirty="0"/>
          </a:p>
        </p:txBody>
      </p:sp>
      <p:sp>
        <p:nvSpPr>
          <p:cNvPr id="2272" name="Google Shape;2272;p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02</a:t>
            </a:r>
            <a:endParaRPr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Matrice SWOT</a:t>
            </a:r>
            <a:endParaRPr b="1" dirty="0"/>
          </a:p>
        </p:txBody>
      </p:sp>
      <p:sp>
        <p:nvSpPr>
          <p:cNvPr id="2278" name="Google Shape;2278;p7"/>
          <p:cNvSpPr/>
          <p:nvPr/>
        </p:nvSpPr>
        <p:spPr>
          <a:xfrm>
            <a:off x="1092994" y="1112201"/>
            <a:ext cx="3425623" cy="173172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50" b="0" i="0" u="none" strike="noStrike" cap="none" dirty="0" smtClean="0">
              <a:solidFill>
                <a:schemeClr val="lt1"/>
              </a:solidFill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50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50" b="0" i="0" u="none" strike="noStrike" cap="none" dirty="0" smtClean="0">
              <a:solidFill>
                <a:schemeClr val="lt1"/>
              </a:solidFill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50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 smtClean="0">
                <a:solidFill>
                  <a:schemeClr val="lt1"/>
                </a:solidFill>
                <a:sym typeface="Arial"/>
              </a:rPr>
              <a:t>Forces </a:t>
            </a:r>
            <a:endParaRPr b="1" dirty="0"/>
          </a:p>
          <a:p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mondial en forte croissance : 197 Md$ en 2025 (+7,5 %)</a:t>
            </a:r>
            <a:endParaRPr lang="en-US" dirty="0"/>
          </a:p>
          <a:p>
            <a:r>
              <a:rPr lang="en-US" b="1" dirty="0" smtClean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smtClean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à forte valeur (GTA V &gt; 205 M unités vendues)</a:t>
            </a:r>
            <a:endParaRPr lang="en-US" dirty="0" smtClean="0"/>
          </a:p>
          <a:p>
            <a:r>
              <a:rPr lang="en-US" b="1" dirty="0" smtClean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forte sur le segment AAA (39–69€/jeu)</a:t>
            </a:r>
            <a:endParaRPr lang="en-US" dirty="0"/>
          </a:p>
          <a:p>
            <a:pPr lvl="0"/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7"/>
          <p:cNvSpPr/>
          <p:nvPr/>
        </p:nvSpPr>
        <p:spPr>
          <a:xfrm>
            <a:off x="4536563" y="1112200"/>
            <a:ext cx="3547533" cy="1703144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b="1" dirty="0">
                <a:solidFill>
                  <a:schemeClr val="lt1"/>
                </a:solidFill>
              </a:rPr>
              <a:t>Faiblesses</a:t>
            </a:r>
          </a:p>
          <a:p>
            <a:pPr algn="r"/>
            <a:r>
              <a:rPr lang="en-US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projet Triple A : courbe d'apprentissage élevée</a:t>
            </a:r>
            <a:endParaRPr lang="en-US" dirty="0"/>
          </a:p>
          <a:p>
            <a:pPr algn="r"/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AAA : 50 à 300 M$ d'investissement requis</a:t>
            </a:r>
            <a:endParaRPr lang="en-US" dirty="0"/>
          </a:p>
          <a:p>
            <a:pPr algn="r"/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commercial élevé si mauvais lancement</a:t>
            </a:r>
            <a:endParaRPr lang="en-US"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7"/>
          <p:cNvSpPr/>
          <p:nvPr/>
        </p:nvSpPr>
        <p:spPr>
          <a:xfrm>
            <a:off x="1035844" y="2843919"/>
            <a:ext cx="3482773" cy="2007460"/>
          </a:xfrm>
          <a:prstGeom prst="roundRect">
            <a:avLst>
              <a:gd name="adj" fmla="val 16667"/>
            </a:avLst>
          </a:prstGeom>
          <a:solidFill>
            <a:srgbClr val="A288E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1" i="0" u="none" strike="noStrike" cap="none" dirty="0" smtClean="0">
              <a:solidFill>
                <a:schemeClr val="lt1"/>
              </a:solidFill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1" i="0" u="none" strike="noStrike" cap="none" dirty="0" smtClean="0">
              <a:solidFill>
                <a:schemeClr val="lt1"/>
              </a:solidFill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400" b="1" i="0" u="none" strike="noStrike" cap="none" dirty="0" smtClean="0">
              <a:solidFill>
                <a:schemeClr val="tx1"/>
              </a:solidFill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 smtClean="0">
                <a:solidFill>
                  <a:schemeClr val="tx1"/>
                </a:solidFill>
                <a:sym typeface="Arial"/>
              </a:rPr>
              <a:t>Opportunités</a:t>
            </a:r>
            <a:endParaRPr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0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ans : fort pouvoir d'achat, 87% de joueurs actifs</a:t>
            </a:r>
            <a:endParaRPr lang="en-US" dirty="0"/>
          </a:p>
          <a:p>
            <a:r>
              <a:rPr lang="en-US" b="1" dirty="0">
                <a:solidFill>
                  <a:srgbClr val="0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&amp; streaming : 540 M spectateurs mondiaux 2025</a:t>
            </a:r>
            <a:endParaRPr lang="en-US" dirty="0"/>
          </a:p>
          <a:p>
            <a:r>
              <a:rPr lang="en-US" b="1" dirty="0">
                <a:solidFill>
                  <a:srgbClr val="0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émergents : MENA +7,8 % TCAC 2025–2030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7"/>
          <p:cNvSpPr/>
          <p:nvPr/>
        </p:nvSpPr>
        <p:spPr>
          <a:xfrm>
            <a:off x="4518617" y="2843920"/>
            <a:ext cx="3648186" cy="1935344"/>
          </a:xfrm>
          <a:prstGeom prst="roundRect">
            <a:avLst>
              <a:gd name="adj" fmla="val 16667"/>
            </a:avLst>
          </a:prstGeom>
          <a:solidFill>
            <a:srgbClr val="C1B6D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b="1" dirty="0" smtClean="0">
              <a:solidFill>
                <a:srgbClr val="EF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r"/>
            <a:endParaRPr lang="en-US" b="1" dirty="0">
              <a:solidFill>
                <a:srgbClr val="EF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 smtClean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</a:p>
          <a:p>
            <a:pPr algn="r"/>
            <a:endParaRPr lang="en-US" b="1" dirty="0" smtClean="0">
              <a:solidFill>
                <a:srgbClr val="EF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r"/>
            <a:endParaRPr lang="en-US" b="1" dirty="0">
              <a:solidFill>
                <a:srgbClr val="EF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r"/>
            <a:endParaRPr lang="en-US"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b="1" dirty="0">
              <a:solidFill>
                <a:schemeClr val="tx1"/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 smtClean="0">
                <a:solidFill>
                  <a:schemeClr val="tx1"/>
                </a:solidFill>
                <a:sym typeface="Arial"/>
              </a:rPr>
              <a:t>Menaces</a:t>
            </a:r>
            <a:r>
              <a:rPr lang="fr-FR" sz="1050" dirty="0" smtClean="0">
                <a:solidFill>
                  <a:schemeClr val="tx1"/>
                </a:solidFill>
              </a:rPr>
              <a:t> </a:t>
            </a:r>
          </a:p>
          <a:p>
            <a:pPr algn="r"/>
            <a:endParaRPr lang="fr-FR" sz="1050" dirty="0" smtClean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fr-FR" dirty="0" smtClean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</a:t>
            </a:r>
            <a:r>
              <a:rPr lang="fr-FR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des grands éditeurs (EA, Ubisoft, Activision)</a:t>
            </a:r>
          </a:p>
          <a:p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smtClean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Pénurie 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talents tech, hausse des salaires dev</a:t>
            </a:r>
          </a:p>
          <a:p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dirty="0" smtClean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Piratage </a:t>
            </a: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revente non autorisée</a:t>
            </a:r>
          </a:p>
          <a:p>
            <a:pPr algn="r"/>
            <a:r>
              <a:rPr lang="fr-FR" sz="1050" dirty="0">
                <a:solidFill>
                  <a:schemeClr val="tx1"/>
                </a:solidFill>
              </a:rPr>
              <a:t>)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7"/>
          <p:cNvSpPr/>
          <p:nvPr/>
        </p:nvSpPr>
        <p:spPr>
          <a:xfrm>
            <a:off x="3957318" y="2286757"/>
            <a:ext cx="1122597" cy="1122597"/>
          </a:xfrm>
          <a:prstGeom prst="ellipse">
            <a:avLst/>
          </a:prstGeom>
          <a:solidFill>
            <a:srgbClr val="271457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7"/>
          <p:cNvSpPr/>
          <p:nvPr/>
        </p:nvSpPr>
        <p:spPr>
          <a:xfrm>
            <a:off x="4322928" y="2663409"/>
            <a:ext cx="361102" cy="36102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7"/>
          <p:cNvSpPr txBox="1"/>
          <p:nvPr/>
        </p:nvSpPr>
        <p:spPr>
          <a:xfrm>
            <a:off x="4083534" y="2353555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dirty="0"/>
          </a:p>
        </p:txBody>
      </p:sp>
      <p:sp>
        <p:nvSpPr>
          <p:cNvPr id="2285" name="Google Shape;2285;p7"/>
          <p:cNvSpPr txBox="1"/>
          <p:nvPr/>
        </p:nvSpPr>
        <p:spPr>
          <a:xfrm>
            <a:off x="4536563" y="2371695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dirty="0"/>
          </a:p>
        </p:txBody>
      </p:sp>
      <p:sp>
        <p:nvSpPr>
          <p:cNvPr id="2286" name="Google Shape;2286;p7"/>
          <p:cNvSpPr txBox="1"/>
          <p:nvPr/>
        </p:nvSpPr>
        <p:spPr>
          <a:xfrm>
            <a:off x="4074813" y="2910718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dirty="0"/>
          </a:p>
        </p:txBody>
      </p:sp>
      <p:sp>
        <p:nvSpPr>
          <p:cNvPr id="2287" name="Google Shape;2287;p7"/>
          <p:cNvSpPr txBox="1"/>
          <p:nvPr/>
        </p:nvSpPr>
        <p:spPr>
          <a:xfrm>
            <a:off x="4592602" y="2910718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dirty="0"/>
          </a:p>
        </p:txBody>
      </p:sp>
      <p:cxnSp>
        <p:nvCxnSpPr>
          <p:cNvPr id="2288" name="Google Shape;2288;p7"/>
          <p:cNvCxnSpPr>
            <a:stCxn id="2282" idx="2"/>
            <a:endCxn id="2282" idx="6"/>
          </p:cNvCxnSpPr>
          <p:nvPr/>
        </p:nvCxnSpPr>
        <p:spPr>
          <a:xfrm>
            <a:off x="3957318" y="2848056"/>
            <a:ext cx="1122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9" name="Google Shape;2289;p7"/>
          <p:cNvCxnSpPr>
            <a:stCxn id="2282" idx="4"/>
            <a:endCxn id="2282" idx="0"/>
          </p:cNvCxnSpPr>
          <p:nvPr/>
        </p:nvCxnSpPr>
        <p:spPr>
          <a:xfrm rot="10800000">
            <a:off x="4518617" y="2286754"/>
            <a:ext cx="0" cy="1122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"/>
          <p:cNvSpPr/>
          <p:nvPr/>
        </p:nvSpPr>
        <p:spPr>
          <a:xfrm>
            <a:off x="3347125" y="1697825"/>
            <a:ext cx="2468400" cy="2297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8"/>
          <p:cNvSpPr txBox="1">
            <a:spLocks noGrp="1"/>
          </p:cNvSpPr>
          <p:nvPr>
            <p:ph type="subTitle" idx="5"/>
          </p:nvPr>
        </p:nvSpPr>
        <p:spPr>
          <a:xfrm>
            <a:off x="818238" y="4020638"/>
            <a:ext cx="2233037" cy="112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 algn="l"/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ventes dématérialisées (2024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b="1" dirty="0" smtClean="0">
              <a:solidFill>
                <a:srgbClr val="065F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/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 data centers (enjeu 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croissant)</a:t>
            </a:r>
            <a:endParaRPr lang="en-US" dirty="0" smtClean="0">
              <a:ea typeface="Calibri" pitchFamily="34" charset="-122"/>
              <a:cs typeface="Calibri" pitchFamily="34" charset="-120"/>
            </a:endParaRPr>
          </a:p>
          <a:p>
            <a:pPr marL="0" indent="0" algn="l"/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progressif du physique</a:t>
            </a:r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2296" name="Google Shape;2296;p8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Environmental</a:t>
            </a:r>
            <a:endParaRPr dirty="0"/>
          </a:p>
        </p:txBody>
      </p:sp>
      <p:sp>
        <p:nvSpPr>
          <p:cNvPr id="2297" name="Google Shape;2297;p8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Social</a:t>
            </a:r>
            <a:endParaRPr dirty="0"/>
          </a:p>
        </p:txBody>
      </p:sp>
      <p:sp>
        <p:nvSpPr>
          <p:cNvPr id="2298" name="Google Shape;2298;p8"/>
          <p:cNvSpPr txBox="1">
            <a:spLocks noGrp="1"/>
          </p:cNvSpPr>
          <p:nvPr>
            <p:ph type="subTitle" idx="3"/>
          </p:nvPr>
        </p:nvSpPr>
        <p:spPr>
          <a:xfrm>
            <a:off x="0" y="2884841"/>
            <a:ext cx="3051301" cy="861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40,2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joueurs France — record 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b="1" dirty="0" smtClean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: 39 ans — marché adulte dominant</a:t>
            </a:r>
            <a:endParaRPr lang="en-US" dirty="0"/>
          </a:p>
          <a:p>
            <a:pPr marL="0" indent="0"/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Parité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H/F : 51%/49% atteinte</a:t>
            </a:r>
            <a:endParaRPr lang="en-US" dirty="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99" name="Google Shape;2299;p8"/>
          <p:cNvSpPr txBox="1">
            <a:spLocks noGrp="1"/>
          </p:cNvSpPr>
          <p:nvPr>
            <p:ph type="subTitle" idx="1"/>
          </p:nvPr>
        </p:nvSpPr>
        <p:spPr>
          <a:xfrm>
            <a:off x="94113" y="1706395"/>
            <a:ext cx="3040799" cy="945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PEGI 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dirty="0"/>
          </a:p>
          <a:p>
            <a:pPr marL="0" lvl="0" indent="0" algn="ctr"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Embargos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restrictions géopolitiques (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fr-FR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dirty="0">
              <a:solidFill>
                <a:srgbClr val="D0CC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00" name="Google Shape;2300;p8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dirty="0"/>
              <a:t>Politique</a:t>
            </a:r>
            <a:endParaRPr dirty="0"/>
          </a:p>
        </p:txBody>
      </p:sp>
      <p:sp>
        <p:nvSpPr>
          <p:cNvPr id="2301" name="Google Shape;2301;p8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dirty="0"/>
              <a:t>Analyse PESTEL</a:t>
            </a:r>
            <a:endParaRPr b="1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2" name="Google Shape;2302;p8"/>
          <p:cNvSpPr txBox="1"/>
          <p:nvPr/>
        </p:nvSpPr>
        <p:spPr>
          <a:xfrm>
            <a:off x="3108700" y="146821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3" name="Google Shape;2303;p8"/>
          <p:cNvSpPr txBox="1"/>
          <p:nvPr/>
        </p:nvSpPr>
        <p:spPr>
          <a:xfrm>
            <a:off x="5537300" y="146821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4" name="Google Shape;2304;p8"/>
          <p:cNvSpPr txBox="1"/>
          <p:nvPr/>
        </p:nvSpPr>
        <p:spPr>
          <a:xfrm>
            <a:off x="3111638" y="259836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5" name="Google Shape;2305;p8"/>
          <p:cNvSpPr txBox="1"/>
          <p:nvPr/>
        </p:nvSpPr>
        <p:spPr>
          <a:xfrm>
            <a:off x="5540238" y="259836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6" name="Google Shape;2306;p8"/>
          <p:cNvSpPr txBox="1"/>
          <p:nvPr/>
        </p:nvSpPr>
        <p:spPr>
          <a:xfrm>
            <a:off x="3111638" y="3745888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7" name="Google Shape;2307;p8"/>
          <p:cNvSpPr txBox="1"/>
          <p:nvPr/>
        </p:nvSpPr>
        <p:spPr>
          <a:xfrm>
            <a:off x="5540238" y="3745888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</a:t>
            </a:r>
            <a:endParaRPr sz="3300" b="0" i="0" u="none" strike="noStrike" cap="none" dirty="0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308" name="Google Shape;2308;p8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Economique</a:t>
            </a:r>
            <a:endParaRPr dirty="0"/>
          </a:p>
        </p:txBody>
      </p:sp>
      <p:sp>
        <p:nvSpPr>
          <p:cNvPr id="2309" name="Google Shape;2309;p8"/>
          <p:cNvSpPr txBox="1">
            <a:spLocks noGrp="1"/>
          </p:cNvSpPr>
          <p:nvPr>
            <p:ph type="subTitle" idx="8"/>
          </p:nvPr>
        </p:nvSpPr>
        <p:spPr>
          <a:xfrm>
            <a:off x="6092700" y="1731875"/>
            <a:ext cx="3051299" cy="878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fr-FR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d'achat (inflation 2024</a:t>
            </a: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économique et sanitaire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Pénurie de composants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en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limite comme les “loot boxes”</a:t>
            </a:r>
          </a:p>
          <a:p>
            <a:pPr marL="0" indent="0">
              <a:buClr>
                <a:schemeClr val="dk1"/>
              </a:buClr>
              <a:buSzPts val="1100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310" name="Google Shape;2310;p8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Technologique</a:t>
            </a:r>
            <a:endParaRPr dirty="0"/>
          </a:p>
        </p:txBody>
      </p:sp>
      <p:sp>
        <p:nvSpPr>
          <p:cNvPr id="2311" name="Google Shape;2311;p8"/>
          <p:cNvSpPr txBox="1">
            <a:spLocks noGrp="1"/>
          </p:cNvSpPr>
          <p:nvPr>
            <p:ph type="subTitle" idx="13"/>
          </p:nvPr>
        </p:nvSpPr>
        <p:spPr>
          <a:xfrm>
            <a:off x="6092700" y="2884840"/>
            <a:ext cx="3051297" cy="861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b="1" dirty="0" smtClean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 : révolution game-dev</a:t>
            </a:r>
            <a:endParaRPr lang="en-US" dirty="0"/>
          </a:p>
          <a:p>
            <a:pPr marL="0" indent="0"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15 Md$ en 2025 (casques next-gen)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312" name="Google Shape;2312;p8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Legal</a:t>
            </a:r>
            <a:endParaRPr dirty="0"/>
          </a:p>
        </p:txBody>
      </p:sp>
      <p:sp>
        <p:nvSpPr>
          <p:cNvPr id="2313" name="Google Shape;2313;p8"/>
          <p:cNvSpPr txBox="1">
            <a:spLocks noGrp="1"/>
          </p:cNvSpPr>
          <p:nvPr>
            <p:ph type="subTitle" idx="15"/>
          </p:nvPr>
        </p:nvSpPr>
        <p:spPr>
          <a:xfrm>
            <a:off x="6092675" y="4020638"/>
            <a:ext cx="3051323" cy="1085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Encadrement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 boxes (Belgique, Pays-Bas)</a:t>
            </a:r>
            <a:endParaRPr lang="en-US" dirty="0"/>
          </a:p>
          <a:p>
            <a:pPr marL="0" indent="0">
              <a:buClr>
                <a:schemeClr val="dk1"/>
              </a:buClr>
              <a:buSzPts val="1100"/>
            </a:pPr>
            <a:r>
              <a:rPr lang="en-US" dirty="0" smtClean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protection données joueurs</a:t>
            </a:r>
            <a:endParaRPr lang="en-US" dirty="0"/>
          </a:p>
          <a:p>
            <a:pPr marL="0" indent="0">
              <a:buClr>
                <a:schemeClr val="dk1"/>
              </a:buClr>
              <a:buSzPts val="1100"/>
            </a:pPr>
            <a:r>
              <a:rPr lang="en-US" b="1" dirty="0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D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intellectuelle &amp; anti-piratage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314" name="Google Shape;2314;p8"/>
          <p:cNvSpPr txBox="1"/>
          <p:nvPr/>
        </p:nvSpPr>
        <p:spPr>
          <a:xfrm>
            <a:off x="3799900" y="2598375"/>
            <a:ext cx="1539600" cy="527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PESTEL</a:t>
            </a:r>
            <a:endParaRPr sz="1800" b="0" i="0" u="none" strike="noStrike" cap="none" dirty="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9"/>
          <p:cNvSpPr txBox="1">
            <a:spLocks noGrp="1"/>
          </p:cNvSpPr>
          <p:nvPr>
            <p:ph type="title"/>
          </p:nvPr>
        </p:nvSpPr>
        <p:spPr>
          <a:xfrm>
            <a:off x="5449425" y="1593574"/>
            <a:ext cx="3373106" cy="149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3200" dirty="0" smtClean="0">
                <a:latin typeface="Space Grotesk Medium"/>
                <a:ea typeface="Space Grotesk Medium"/>
                <a:cs typeface="Space Grotesk Medium"/>
                <a:sym typeface="Space Grotesk Medium"/>
              </a:rPr>
              <a:t/>
            </a:r>
            <a:br>
              <a:rPr lang="fr-FR" sz="3200" dirty="0" smtClean="0">
                <a:latin typeface="Space Grotesk Medium"/>
                <a:ea typeface="Space Grotesk Medium"/>
                <a:cs typeface="Space Grotesk Medium"/>
                <a:sym typeface="Space Grotesk Medium"/>
              </a:rPr>
            </a:br>
            <a:r>
              <a:rPr lang="fr-FR" sz="3200" dirty="0" smtClean="0">
                <a:latin typeface="Space Grotesk Medium"/>
                <a:ea typeface="Space Grotesk Medium"/>
                <a:cs typeface="Space Grotesk Medium"/>
                <a:sym typeface="Space Grotesk Medium"/>
              </a:rPr>
              <a:t/>
            </a:r>
            <a:br>
              <a:rPr lang="fr-FR" sz="3200" dirty="0" smtClean="0">
                <a:latin typeface="Space Grotesk Medium"/>
                <a:ea typeface="Space Grotesk Medium"/>
                <a:cs typeface="Space Grotesk Medium"/>
                <a:sym typeface="Space Grotesk Medium"/>
              </a:rPr>
            </a:br>
            <a:r>
              <a:rPr lang="fr-FR" sz="3200" dirty="0" smtClean="0"/>
              <a:t>Analyses </a:t>
            </a:r>
            <a:r>
              <a:rPr lang="fr-FR" sz="3200" dirty="0"/>
              <a:t>des tendances actuelles</a:t>
            </a:r>
            <a:br>
              <a:rPr lang="fr-FR" sz="3200" dirty="0"/>
            </a:br>
            <a:r>
              <a:rPr lang="fr-FR" dirty="0"/>
              <a:t/>
            </a:r>
            <a:br>
              <a:rPr lang="fr-FR" dirty="0"/>
            </a:br>
            <a:endParaRPr dirty="0"/>
          </a:p>
        </p:txBody>
      </p:sp>
      <p:sp>
        <p:nvSpPr>
          <p:cNvPr id="2321" name="Google Shape;2321;p9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03</a:t>
            </a:r>
            <a:endParaRPr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4353" y="68012"/>
            <a:ext cx="7717500" cy="572700"/>
          </a:xfrm>
        </p:spPr>
        <p:txBody>
          <a:bodyPr/>
          <a:lstStyle/>
          <a:p>
            <a:r>
              <a:rPr lang="en" b="1" dirty="0"/>
              <a:t>Tendances actuelles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849" y="640712"/>
            <a:ext cx="3382302" cy="422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7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44" y="985838"/>
            <a:ext cx="7620750" cy="410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1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61" y="371475"/>
            <a:ext cx="7660678" cy="453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9585" y="0"/>
            <a:ext cx="7717500" cy="1297242"/>
          </a:xfrm>
        </p:spPr>
        <p:txBody>
          <a:bodyPr/>
          <a:lstStyle/>
          <a:p>
            <a:pPr marL="0" indent="0"/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mondiales — Données Newzoo 2026</a:t>
            </a:r>
            <a:endParaRPr lang="en-US" sz="3600" dirty="0"/>
          </a:p>
        </p:txBody>
      </p:sp>
      <p:pic>
        <p:nvPicPr>
          <p:cNvPr id="3" name="Image 0" descr="/home/user/workspace/newzo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" y="1749503"/>
            <a:ext cx="4846320" cy="2852928"/>
          </a:xfrm>
          <a:prstGeom prst="rect">
            <a:avLst/>
          </a:prstGeom>
        </p:spPr>
      </p:pic>
      <p:sp>
        <p:nvSpPr>
          <p:cNvPr id="4" name="Text 6"/>
          <p:cNvSpPr/>
          <p:nvPr/>
        </p:nvSpPr>
        <p:spPr>
          <a:xfrm>
            <a:off x="62865" y="4626007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Newzoo Games Market Reports &amp; Forecasts — newzoo.com</a:t>
            </a:r>
            <a:endParaRPr lang="en-US" sz="75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1543049"/>
            <a:ext cx="3110139" cy="3265837"/>
          </a:xfrm>
          <a:prstGeom prst="rect">
            <a:avLst/>
          </a:prstGeom>
        </p:spPr>
      </p:pic>
      <p:sp>
        <p:nvSpPr>
          <p:cNvPr id="7" name="Text 26"/>
          <p:cNvSpPr/>
          <p:nvPr/>
        </p:nvSpPr>
        <p:spPr>
          <a:xfrm>
            <a:off x="5557838" y="4907756"/>
            <a:ext cx="3311842" cy="212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Newzoo Games Market Reports &amp; Forecasts — newzoo.com (février 2026)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9536" y="139611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player base projected to exceed 1 billion — Newzoo 2026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9540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712788" y="125413"/>
            <a:ext cx="7718425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 joueurs en France 2025</a:t>
            </a:r>
            <a:endParaRPr lang="en-US" sz="1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88" y="625475"/>
            <a:ext cx="5172268" cy="444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2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1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/>
              <a:t>Les futures tendances et perspectives</a:t>
            </a:r>
            <a:endParaRPr dirty="0"/>
          </a:p>
        </p:txBody>
      </p:sp>
      <p:sp>
        <p:nvSpPr>
          <p:cNvPr id="2333" name="Google Shape;2333;p11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04</a:t>
            </a:r>
            <a:endParaRPr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/>
              <a:t>Tendances futures</a:t>
            </a:r>
            <a:endParaRPr b="1" dirty="0"/>
          </a:p>
        </p:txBody>
      </p:sp>
      <p:pic>
        <p:nvPicPr>
          <p:cNvPr id="4" name="Image 0" descr="/home/user/workspace/grandview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3686" y="1445226"/>
            <a:ext cx="4754880" cy="2807208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617966" y="1168985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Grand View Research — Video Game Market Size 2020–2030</a:t>
            </a:r>
            <a:endParaRPr lang="en-US" sz="95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64" y="1139312"/>
            <a:ext cx="3191320" cy="3677163"/>
          </a:xfrm>
          <a:prstGeom prst="rect">
            <a:avLst/>
          </a:prstGeom>
        </p:spPr>
      </p:pic>
      <p:sp>
        <p:nvSpPr>
          <p:cNvPr id="7" name="Text 40"/>
          <p:cNvSpPr/>
          <p:nvPr/>
        </p:nvSpPr>
        <p:spPr>
          <a:xfrm>
            <a:off x="399288" y="4792249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Grand View Research 2025 | SELL 2026 | Newzoo 2026 | Fortune BI 2026</a:t>
            </a:r>
            <a:endParaRPr lang="en-US" sz="75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25" y="4402785"/>
            <a:ext cx="4305901" cy="590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3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200" dirty="0" smtClean="0"/>
              <a:t>Analyses des segments</a:t>
            </a:r>
            <a:endParaRPr dirty="0"/>
          </a:p>
        </p:txBody>
      </p:sp>
      <p:sp>
        <p:nvSpPr>
          <p:cNvPr id="2345" name="Google Shape;2345;p13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05</a:t>
            </a:r>
            <a:endParaRPr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51;p14"/>
          <p:cNvSpPr txBox="1"/>
          <p:nvPr/>
        </p:nvSpPr>
        <p:spPr>
          <a:xfrm>
            <a:off x="2072622" y="1458429"/>
            <a:ext cx="6358128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>
                <a:solidFill>
                  <a:schemeClr val="bg1"/>
                </a:solidFill>
                <a:latin typeface="+mn-lt"/>
              </a:rPr>
              <a:t>Le marché des jeux vidéo est vaste et diversifié, et il peut être segmenté de différentes manières selon les critères utilisés. </a:t>
            </a:r>
          </a:p>
          <a:p>
            <a:pPr lvl="0"/>
            <a:endParaRPr lang="fr-FR" dirty="0">
              <a:solidFill>
                <a:schemeClr val="bg1"/>
              </a:solidFill>
              <a:latin typeface="+mn-lt"/>
            </a:endParaRPr>
          </a:p>
          <a:p>
            <a:pPr lvl="0"/>
            <a:r>
              <a:rPr lang="fr-FR" dirty="0">
                <a:solidFill>
                  <a:schemeClr val="bg1"/>
                </a:solidFill>
                <a:latin typeface="+mn-lt"/>
              </a:rPr>
              <a:t>Voici les principaux segments du marché des jeux vidéo :</a:t>
            </a:r>
          </a:p>
          <a:p>
            <a:pPr lvl="0"/>
            <a:endParaRPr lang="fr-FR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plateforme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genre de jeu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modèle économique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démographie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région démographique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type de jeu en ligne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Par technologie</a:t>
            </a:r>
            <a:endParaRPr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Google Shape;235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Analyses </a:t>
            </a:r>
            <a:r>
              <a:rPr lang="en" b="1" dirty="0" smtClean="0"/>
              <a:t>des </a:t>
            </a:r>
            <a:r>
              <a:rPr lang="en" b="1" dirty="0"/>
              <a:t>segments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1537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371849" y="124972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Analyses du ou des segments</a:t>
            </a:r>
            <a:endParaRPr b="1" dirty="0"/>
          </a:p>
        </p:txBody>
      </p:sp>
      <p:sp>
        <p:nvSpPr>
          <p:cNvPr id="2351" name="Google Shape;2351;p14"/>
          <p:cNvSpPr txBox="1"/>
          <p:nvPr/>
        </p:nvSpPr>
        <p:spPr>
          <a:xfrm>
            <a:off x="2163549" y="1505050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 3"/>
          <p:cNvSpPr/>
          <p:nvPr/>
        </p:nvSpPr>
        <p:spPr>
          <a:xfrm>
            <a:off x="556029" y="69767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des Jeux Vidéo 1980–2016 — Ventes par Genre &amp; Plateforme</a:t>
            </a:r>
            <a:endParaRPr lang="en-US" sz="1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03" y="1353211"/>
            <a:ext cx="5266101" cy="3248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3" y="1529710"/>
            <a:ext cx="3621357" cy="3134162"/>
          </a:xfrm>
          <a:prstGeom prst="rect">
            <a:avLst/>
          </a:prstGeom>
        </p:spPr>
      </p:pic>
      <p:sp>
        <p:nvSpPr>
          <p:cNvPr id="7" name="Text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des Jeux Vidéo 1980–2016 — Ventes par Genre &amp; Plateforme</a:t>
            </a:r>
            <a:endParaRPr lang="en-US" sz="1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894" y="1783067"/>
            <a:ext cx="4907756" cy="21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89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/>
          </p:nvPr>
        </p:nvSpPr>
        <p:spPr>
          <a:xfrm>
            <a:off x="530345" y="124972"/>
            <a:ext cx="7717500" cy="572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recommandé — Attractivité &amp; Volume de marché</a:t>
            </a:r>
            <a:endParaRPr lang="en-US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31" y="697992"/>
            <a:ext cx="6391827" cy="361356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470" y="697672"/>
            <a:ext cx="2543530" cy="4410691"/>
          </a:xfrm>
          <a:prstGeom prst="rect">
            <a:avLst/>
          </a:prstGeom>
        </p:spPr>
      </p:pic>
      <p:sp>
        <p:nvSpPr>
          <p:cNvPr id="7" name="Shape 63"/>
          <p:cNvSpPr/>
          <p:nvPr/>
        </p:nvSpPr>
        <p:spPr>
          <a:xfrm>
            <a:off x="91440" y="4697289"/>
            <a:ext cx="6454165" cy="446929"/>
          </a:xfrm>
          <a:prstGeom prst="roundRect">
            <a:avLst>
              <a:gd name="adj" fmla="val 14286"/>
            </a:avLst>
          </a:prstGeom>
          <a:solidFill>
            <a:srgbClr val="3D3799"/>
          </a:solidFill>
          <a:ln/>
        </p:spPr>
      </p:sp>
      <p:sp>
        <p:nvSpPr>
          <p:cNvPr id="8" name="Text 64"/>
          <p:cNvSpPr/>
          <p:nvPr/>
        </p:nvSpPr>
        <p:spPr>
          <a:xfrm>
            <a:off x="41148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volume : </a:t>
            </a:r>
            <a:r>
              <a:rPr lang="en-US" sz="900" b="1" dirty="0">
                <a:solidFill>
                  <a:srgbClr val="0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17,15% </a:t>
            </a:r>
            <a:r>
              <a:rPr lang="en-US" sz="900" dirty="0">
                <a:solidFill>
                  <a:srgbClr val="7B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attractivité : </a:t>
            </a: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Shooter +0,05</a:t>
            </a:r>
            <a:r>
              <a:rPr lang="en-US" sz="900" dirty="0">
                <a:solidFill>
                  <a:srgbClr val="7B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 : </a:t>
            </a: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Action/Aventure (RPG)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1390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411480" y="109728"/>
            <a:ext cx="8321040" cy="7802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cible — 25–34 ans, mixte, console &amp; PC</a:t>
            </a:r>
            <a:endParaRPr lang="en-US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90016"/>
            <a:ext cx="4363059" cy="3896269"/>
          </a:xfrm>
          <a:prstGeom prst="rect">
            <a:avLst/>
          </a:prstGeom>
        </p:spPr>
      </p:pic>
      <p:sp>
        <p:nvSpPr>
          <p:cNvPr id="5" name="Shape 8"/>
          <p:cNvSpPr/>
          <p:nvPr/>
        </p:nvSpPr>
        <p:spPr>
          <a:xfrm>
            <a:off x="103632" y="4096512"/>
            <a:ext cx="4370832" cy="749808"/>
          </a:xfrm>
          <a:prstGeom prst="roundRect">
            <a:avLst>
              <a:gd name="adj" fmla="val 9756"/>
            </a:avLst>
          </a:prstGeom>
          <a:solidFill>
            <a:srgbClr val="3D3799"/>
          </a:solidFill>
          <a:ln/>
        </p:spPr>
      </p:sp>
      <p:sp>
        <p:nvSpPr>
          <p:cNvPr id="6" name="Text 2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SELL 2026 | BDM 2025 | Observatoire Européen JV 2025 | AFJV 2025</a:t>
            </a:r>
            <a:endParaRPr lang="en-US" sz="75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88253"/>
            <a:ext cx="4370832" cy="2943667"/>
          </a:xfrm>
          <a:prstGeom prst="rect">
            <a:avLst/>
          </a:prstGeom>
        </p:spPr>
      </p:pic>
      <p:sp>
        <p:nvSpPr>
          <p:cNvPr id="8" name="Text 10"/>
          <p:cNvSpPr/>
          <p:nvPr/>
        </p:nvSpPr>
        <p:spPr>
          <a:xfrm>
            <a:off x="2535936" y="4160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EUR/an en France</a:t>
            </a:r>
            <a:endParaRPr lang="en-US" sz="1200" dirty="0"/>
          </a:p>
        </p:txBody>
      </p:sp>
      <p:sp>
        <p:nvSpPr>
          <p:cNvPr id="9" name="Text 9"/>
          <p:cNvSpPr/>
          <p:nvPr/>
        </p:nvSpPr>
        <p:spPr>
          <a:xfrm>
            <a:off x="115824" y="41849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moyennes :</a:t>
            </a:r>
            <a:endParaRPr lang="en-US" sz="1050" dirty="0"/>
          </a:p>
        </p:txBody>
      </p:sp>
      <p:sp>
        <p:nvSpPr>
          <p:cNvPr id="10" name="Text 11"/>
          <p:cNvSpPr/>
          <p:nvPr/>
        </p:nvSpPr>
        <p:spPr>
          <a:xfrm>
            <a:off x="20498" y="44439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des 18–30 ans ont acheté dans les 6 derniers mois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4450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/>
          </p:nvPr>
        </p:nvSpPr>
        <p:spPr>
          <a:xfrm>
            <a:off x="493769" y="149356"/>
            <a:ext cx="7717500" cy="572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Cible — Résultats du Questionnaire </a:t>
            </a:r>
            <a:endParaRPr lang="en-US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906782"/>
            <a:ext cx="6397556" cy="356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7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"/>
          <p:cNvSpPr>
            <a:spLocks noGrp="1"/>
          </p:cNvSpPr>
          <p:nvPr>
            <p:ph type="title" idx="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fr-FR" sz="2800" b="1" dirty="0">
                <a:solidFill>
                  <a:srgbClr val="FFFFFF"/>
                </a:solidFill>
                <a:latin typeface="Calibri"/>
              </a:rPr>
              <a:t>Corrélation entre les 2 segments</a:t>
            </a:r>
          </a:p>
        </p:txBody>
      </p:sp>
      <p:sp>
        <p:nvSpPr>
          <p:cNvPr id="12" name="BoiteCyan"/>
          <p:cNvSpPr>
            <a:spLocks noGrp="1"/>
          </p:cNvSpPr>
          <p:nvPr/>
        </p:nvSpPr>
        <p:spPr>
          <a:xfrm>
            <a:off x="347472" y="1183088"/>
            <a:ext cx="8229600" cy="731520"/>
          </a:xfrm>
          <a:prstGeom prst="roundRect">
            <a:avLst>
              <a:gd name="adj" fmla="val 2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180000" tIns="90000" rIns="180000" bIns="90000" anchor="ctr"/>
          <a:lstStyle/>
          <a:p>
            <a:pPr algn="ctr"/>
            <a:r>
              <a:rPr lang="fr-FR" sz="1600" b="1" dirty="0">
                <a:solidFill>
                  <a:srgbClr val="1E0E4B"/>
                </a:solidFill>
                <a:latin typeface="+mn-lt"/>
              </a:rPr>
              <a:t>Les calculs du khi2 et du p-value ont démontré qu'il y a une corrélation entre les 2 segments :</a:t>
            </a:r>
          </a:p>
          <a:p>
            <a:pPr algn="ctr"/>
            <a:r>
              <a:rPr lang="fr-FR" sz="1800" b="1" dirty="0">
                <a:solidFill>
                  <a:srgbClr val="1E0E4B"/>
                </a:solidFill>
                <a:latin typeface="+mn-lt"/>
              </a:rPr>
              <a:t>la PLATEFORME  et  le GENRE</a:t>
            </a:r>
          </a:p>
        </p:txBody>
      </p:sp>
      <p:sp>
        <p:nvSpPr>
          <p:cNvPr id="15" name="ResultatKhi2"/>
          <p:cNvSpPr>
            <a:spLocks noGrp="1"/>
          </p:cNvSpPr>
          <p:nvPr/>
        </p:nvSpPr>
        <p:spPr>
          <a:xfrm>
            <a:off x="3239064" y="3574944"/>
            <a:ext cx="1371600" cy="54864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  <a:latin typeface="Calibri"/>
              </a:rPr>
              <a:t>H0 REJETÉE</a:t>
            </a:r>
          </a:p>
          <a:p>
            <a:pPr algn="ctr"/>
            <a:r>
              <a:rPr lang="fr-FR" sz="1000" b="0" dirty="0">
                <a:solidFill>
                  <a:srgbClr val="FFFFFF"/>
                </a:solidFill>
                <a:latin typeface="Calibri"/>
              </a:rPr>
              <a:t>p &lt; 0,001</a:t>
            </a:r>
          </a:p>
        </p:txBody>
      </p:sp>
      <p:sp>
        <p:nvSpPr>
          <p:cNvPr id="16" name="FlecheCyan"/>
          <p:cNvSpPr>
            <a:spLocks noGrp="1"/>
          </p:cNvSpPr>
          <p:nvPr/>
        </p:nvSpPr>
        <p:spPr>
          <a:xfrm>
            <a:off x="3301068" y="2761488"/>
            <a:ext cx="1371600" cy="640080"/>
          </a:xfrm>
          <a:prstGeom prst="rightArrow">
            <a:avLst/>
          </a:prstGeom>
          <a:solidFill>
            <a:srgbClr val="00CFDF"/>
          </a:solidFill>
          <a:ln>
            <a:noFill/>
          </a:ln>
        </p:spPr>
        <p:txBody>
          <a:bodyPr anchor="ctr"/>
          <a:lstStyle/>
          <a:p>
            <a:pPr algn="ctr"/>
            <a:r>
              <a:rPr lang="fr-FR" sz="1200" b="1" dirty="0">
                <a:solidFill>
                  <a:srgbClr val="1E0E4B"/>
                </a:solidFill>
                <a:latin typeface="Calibri"/>
              </a:rPr>
              <a:t>χ² = 5 170</a:t>
            </a:r>
          </a:p>
        </p:txBody>
      </p:sp>
      <p:sp>
        <p:nvSpPr>
          <p:cNvPr id="17" name="LabelConsoles"/>
          <p:cNvSpPr>
            <a:spLocks noGrp="1"/>
          </p:cNvSpPr>
          <p:nvPr/>
        </p:nvSpPr>
        <p:spPr>
          <a:xfrm>
            <a:off x="143256" y="4613890"/>
            <a:ext cx="2971800" cy="274638"/>
          </a:xfrm>
          <a:prstGeom prst="rect">
            <a:avLst/>
          </a:prstGeom>
          <a:solidFill>
            <a:srgbClr val="3D3799"/>
          </a:solidFill>
          <a:ln>
            <a:solidFill>
              <a:srgbClr val="00CFDF"/>
            </a:solidFill>
          </a:ln>
        </p:spPr>
        <p:txBody>
          <a:bodyPr anchor="ctr"/>
          <a:lstStyle/>
          <a:p>
            <a:pPr algn="ctr"/>
            <a:r>
              <a:rPr lang="fr-FR" sz="1400" b="1" dirty="0" smtClean="0">
                <a:solidFill>
                  <a:srgbClr val="00CFDF"/>
                </a:solidFill>
                <a:latin typeface="Calibri"/>
              </a:rPr>
              <a:t> </a:t>
            </a:r>
            <a:r>
              <a:rPr lang="fr-FR" sz="1400" b="1" dirty="0">
                <a:solidFill>
                  <a:srgbClr val="00CFDF"/>
                </a:solidFill>
                <a:latin typeface="Calibri"/>
              </a:rPr>
              <a:t>PLATEFORME</a:t>
            </a:r>
          </a:p>
        </p:txBody>
      </p:sp>
      <p:sp>
        <p:nvSpPr>
          <p:cNvPr id="18" name="LabelGenres"/>
          <p:cNvSpPr>
            <a:spLocks noGrp="1"/>
          </p:cNvSpPr>
          <p:nvPr/>
        </p:nvSpPr>
        <p:spPr>
          <a:xfrm>
            <a:off x="4734672" y="4613890"/>
            <a:ext cx="4071600" cy="274638"/>
          </a:xfrm>
          <a:prstGeom prst="rect">
            <a:avLst/>
          </a:prstGeom>
          <a:solidFill>
            <a:srgbClr val="3D3799"/>
          </a:solidFill>
          <a:ln>
            <a:solidFill>
              <a:srgbClr val="00CFDF"/>
            </a:solidFill>
          </a:ln>
        </p:spPr>
        <p:txBody>
          <a:bodyPr anchor="ctr"/>
          <a:lstStyle/>
          <a:p>
            <a:pPr algn="ctr"/>
            <a:r>
              <a:rPr lang="fr-FR" sz="1400" b="1" dirty="0" smtClean="0">
                <a:solidFill>
                  <a:srgbClr val="00CFDF"/>
                </a:solidFill>
                <a:latin typeface="Calibri"/>
              </a:rPr>
              <a:t>GENRE</a:t>
            </a:r>
            <a:endParaRPr lang="fr-FR" sz="1400" b="1" dirty="0">
              <a:solidFill>
                <a:srgbClr val="00CFDF"/>
              </a:solidFill>
              <a:latin typeface="Calibri"/>
            </a:endParaRPr>
          </a:p>
        </p:txBody>
      </p:sp>
      <p:pic>
        <p:nvPicPr>
          <p:cNvPr id="10" name="Conso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" y="2258568"/>
            <a:ext cx="2971800" cy="2286000"/>
          </a:xfrm>
          <a:prstGeom prst="rect">
            <a:avLst/>
          </a:prstGeom>
        </p:spPr>
      </p:pic>
      <p:pic>
        <p:nvPicPr>
          <p:cNvPr id="19" name="Gen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672" y="2258568"/>
            <a:ext cx="40716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2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/>
          </p:nvPr>
        </p:nvSpPr>
        <p:spPr>
          <a:xfrm>
            <a:off x="384041" y="222508"/>
            <a:ext cx="7717500" cy="572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 — Résultats du questionnaire (10+ répondants)</a:t>
            </a:r>
            <a:endParaRPr lang="en-US" sz="1800" dirty="0"/>
          </a:p>
        </p:txBody>
      </p:sp>
      <p:sp>
        <p:nvSpPr>
          <p:cNvPr id="4" name="Shape 7"/>
          <p:cNvSpPr/>
          <p:nvPr/>
        </p:nvSpPr>
        <p:spPr>
          <a:xfrm>
            <a:off x="274320" y="914400"/>
            <a:ext cx="2834640" cy="1938528"/>
          </a:xfrm>
          <a:prstGeom prst="roundRect">
            <a:avLst>
              <a:gd name="adj" fmla="val 3774"/>
            </a:avLst>
          </a:prstGeom>
          <a:solidFill>
            <a:srgbClr val="3D3799"/>
          </a:solidFill>
          <a:ln/>
        </p:spPr>
      </p:sp>
      <p:sp>
        <p:nvSpPr>
          <p:cNvPr id="5" name="Text 9"/>
          <p:cNvSpPr/>
          <p:nvPr/>
        </p:nvSpPr>
        <p:spPr>
          <a:xfrm>
            <a:off x="384048" y="10424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des répondants</a:t>
            </a:r>
            <a:endParaRPr lang="en-US" sz="1050" dirty="0"/>
          </a:p>
        </p:txBody>
      </p:sp>
      <p:sp>
        <p:nvSpPr>
          <p:cNvPr id="6" name="Text 10"/>
          <p:cNvSpPr/>
          <p:nvPr/>
        </p:nvSpPr>
        <p:spPr>
          <a:xfrm>
            <a:off x="384048" y="137160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25%/75%</a:t>
            </a:r>
            <a:endParaRPr lang="en-US" sz="3200" dirty="0"/>
          </a:p>
        </p:txBody>
      </p:sp>
      <p:sp>
        <p:nvSpPr>
          <p:cNvPr id="7" name="Text 11"/>
          <p:cNvSpPr/>
          <p:nvPr/>
        </p:nvSpPr>
        <p:spPr>
          <a:xfrm>
            <a:off x="384048" y="20848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 H/F — parité respectée dans l'échantillon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274320" y="914400"/>
            <a:ext cx="2834640" cy="64008"/>
          </a:xfrm>
          <a:prstGeom prst="rect">
            <a:avLst/>
          </a:prstGeom>
          <a:solidFill>
            <a:srgbClr val="00CFDF"/>
          </a:solidFill>
          <a:ln/>
        </p:spPr>
      </p:sp>
      <p:sp>
        <p:nvSpPr>
          <p:cNvPr id="9" name="Shape 22"/>
          <p:cNvSpPr/>
          <p:nvPr/>
        </p:nvSpPr>
        <p:spPr>
          <a:xfrm>
            <a:off x="274320" y="2999232"/>
            <a:ext cx="2834640" cy="1938528"/>
          </a:xfrm>
          <a:prstGeom prst="roundRect">
            <a:avLst>
              <a:gd name="adj" fmla="val 3774"/>
            </a:avLst>
          </a:prstGeom>
          <a:solidFill>
            <a:srgbClr val="3D3799"/>
          </a:solidFill>
          <a:ln/>
        </p:spPr>
      </p:sp>
      <p:sp>
        <p:nvSpPr>
          <p:cNvPr id="10" name="Shape 23"/>
          <p:cNvSpPr/>
          <p:nvPr/>
        </p:nvSpPr>
        <p:spPr>
          <a:xfrm>
            <a:off x="274320" y="2999232"/>
            <a:ext cx="2834640" cy="64008"/>
          </a:xfrm>
          <a:prstGeom prst="rect">
            <a:avLst/>
          </a:prstGeom>
          <a:solidFill>
            <a:srgbClr val="009FB0"/>
          </a:solidFill>
          <a:ln/>
        </p:spPr>
      </p:sp>
      <p:sp>
        <p:nvSpPr>
          <p:cNvPr id="11" name="Text 24"/>
          <p:cNvSpPr/>
          <p:nvPr/>
        </p:nvSpPr>
        <p:spPr>
          <a:xfrm>
            <a:off x="384048" y="312724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préférés</a:t>
            </a:r>
            <a:endParaRPr lang="en-US" sz="1050" dirty="0"/>
          </a:p>
        </p:txBody>
      </p:sp>
      <p:sp>
        <p:nvSpPr>
          <p:cNvPr id="12" name="Text 25"/>
          <p:cNvSpPr/>
          <p:nvPr/>
        </p:nvSpPr>
        <p:spPr>
          <a:xfrm>
            <a:off x="384048" y="3456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3200" dirty="0"/>
          </a:p>
        </p:txBody>
      </p:sp>
      <p:sp>
        <p:nvSpPr>
          <p:cNvPr id="13" name="Text 26"/>
          <p:cNvSpPr/>
          <p:nvPr/>
        </p:nvSpPr>
        <p:spPr>
          <a:xfrm>
            <a:off x="384048" y="416966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Aventure / RPG — top 3 plébiscités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834640" cy="1938528"/>
          </a:xfrm>
          <a:prstGeom prst="roundRect">
            <a:avLst>
              <a:gd name="adj" fmla="val 3774"/>
            </a:avLst>
          </a:prstGeom>
          <a:solidFill>
            <a:srgbClr val="3D379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91440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10424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</a:t>
            </a:r>
            <a:r>
              <a:rPr lang="en-US" sz="105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d'âge</a:t>
            </a:r>
            <a:endParaRPr lang="en-US" sz="1050" dirty="0"/>
          </a:p>
        </p:txBody>
      </p:sp>
      <p:sp>
        <p:nvSpPr>
          <p:cNvPr id="17" name="Text 16"/>
          <p:cNvSpPr/>
          <p:nvPr/>
        </p:nvSpPr>
        <p:spPr>
          <a:xfrm>
            <a:off x="3355848" y="20848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Majorité 18–34 ans (73% des répondants)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55848" y="137160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18–44</a:t>
            </a:r>
            <a:endParaRPr lang="en-US" sz="3200" dirty="0"/>
          </a:p>
        </p:txBody>
      </p:sp>
      <p:sp>
        <p:nvSpPr>
          <p:cNvPr id="19" name="Shape 27"/>
          <p:cNvSpPr/>
          <p:nvPr/>
        </p:nvSpPr>
        <p:spPr>
          <a:xfrm>
            <a:off x="3246120" y="2999232"/>
            <a:ext cx="2834640" cy="1938528"/>
          </a:xfrm>
          <a:prstGeom prst="roundRect">
            <a:avLst>
              <a:gd name="adj" fmla="val 3774"/>
            </a:avLst>
          </a:prstGeom>
          <a:solidFill>
            <a:srgbClr val="3D3799"/>
          </a:solidFill>
          <a:ln/>
        </p:spPr>
      </p:sp>
      <p:sp>
        <p:nvSpPr>
          <p:cNvPr id="20" name="Shape 28"/>
          <p:cNvSpPr/>
          <p:nvPr/>
        </p:nvSpPr>
        <p:spPr>
          <a:xfrm>
            <a:off x="3246120" y="2999232"/>
            <a:ext cx="283464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29"/>
          <p:cNvSpPr/>
          <p:nvPr/>
        </p:nvSpPr>
        <p:spPr>
          <a:xfrm>
            <a:off x="3355848" y="312724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principale</a:t>
            </a:r>
            <a:endParaRPr lang="en-US" sz="1050" dirty="0"/>
          </a:p>
        </p:txBody>
      </p:sp>
      <p:sp>
        <p:nvSpPr>
          <p:cNvPr id="22" name="Text 30"/>
          <p:cNvSpPr/>
          <p:nvPr/>
        </p:nvSpPr>
        <p:spPr>
          <a:xfrm>
            <a:off x="3355848" y="3456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3200" dirty="0"/>
          </a:p>
        </p:txBody>
      </p:sp>
      <p:sp>
        <p:nvSpPr>
          <p:cNvPr id="23" name="Text 31"/>
          <p:cNvSpPr/>
          <p:nvPr/>
        </p:nvSpPr>
        <p:spPr>
          <a:xfrm>
            <a:off x="3355848" y="416966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(PS/Xbox) en tête, PC en 2e position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217920" y="903221"/>
            <a:ext cx="2834640" cy="1938528"/>
          </a:xfrm>
          <a:prstGeom prst="roundRect">
            <a:avLst>
              <a:gd name="adj" fmla="val 3774"/>
            </a:avLst>
          </a:prstGeom>
          <a:solidFill>
            <a:srgbClr val="3D3799"/>
          </a:solidFill>
          <a:ln/>
        </p:spPr>
      </p:sp>
      <p:sp>
        <p:nvSpPr>
          <p:cNvPr id="25" name="Shape 18"/>
          <p:cNvSpPr/>
          <p:nvPr/>
        </p:nvSpPr>
        <p:spPr>
          <a:xfrm>
            <a:off x="6217920" y="914400"/>
            <a:ext cx="283464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19"/>
          <p:cNvSpPr/>
          <p:nvPr/>
        </p:nvSpPr>
        <p:spPr>
          <a:xfrm>
            <a:off x="6327648" y="10424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jeu/semaine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327648" y="137160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fr-FR" sz="20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5h</a:t>
            </a:r>
            <a:endParaRPr lang="en-US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327648" y="20848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5h/semaine </a:t>
            </a: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 (&gt;60% des joueurs)</a:t>
            </a:r>
            <a:endParaRPr lang="en-US" sz="900" dirty="0"/>
          </a:p>
        </p:txBody>
      </p:sp>
      <p:sp>
        <p:nvSpPr>
          <p:cNvPr id="29" name="Shape 32"/>
          <p:cNvSpPr/>
          <p:nvPr/>
        </p:nvSpPr>
        <p:spPr>
          <a:xfrm>
            <a:off x="6217920" y="2999232"/>
            <a:ext cx="2834640" cy="1938528"/>
          </a:xfrm>
          <a:prstGeom prst="roundRect">
            <a:avLst>
              <a:gd name="adj" fmla="val 3774"/>
            </a:avLst>
          </a:prstGeom>
          <a:solidFill>
            <a:srgbClr val="3D3799"/>
          </a:solidFill>
          <a:ln/>
        </p:spPr>
      </p:sp>
      <p:sp>
        <p:nvSpPr>
          <p:cNvPr id="30" name="Shape 33"/>
          <p:cNvSpPr/>
          <p:nvPr/>
        </p:nvSpPr>
        <p:spPr>
          <a:xfrm>
            <a:off x="6217920" y="2999232"/>
            <a:ext cx="28346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34"/>
          <p:cNvSpPr/>
          <p:nvPr/>
        </p:nvSpPr>
        <p:spPr>
          <a:xfrm>
            <a:off x="6327648" y="312724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par jeu</a:t>
            </a:r>
            <a:endParaRPr lang="en-US" sz="1050" dirty="0"/>
          </a:p>
        </p:txBody>
      </p:sp>
      <p:sp>
        <p:nvSpPr>
          <p:cNvPr id="32" name="Text 35"/>
          <p:cNvSpPr/>
          <p:nvPr/>
        </p:nvSpPr>
        <p:spPr>
          <a:xfrm>
            <a:off x="6327648" y="3456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 EUR</a:t>
            </a:r>
            <a:endParaRPr lang="en-US" sz="3200" dirty="0"/>
          </a:p>
        </p:txBody>
      </p:sp>
      <p:sp>
        <p:nvSpPr>
          <p:cNvPr id="33" name="Text 36"/>
          <p:cNvSpPr/>
          <p:nvPr/>
        </p:nvSpPr>
        <p:spPr>
          <a:xfrm>
            <a:off x="6327648" y="4169664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39–59 EUR pour un titre complet (82% des rép.)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3456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34617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2800"/>
              <a:t>Recommandations stratégiques</a:t>
            </a:r>
            <a:endParaRPr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10000"/>
              <a:t>06</a:t>
            </a:r>
            <a:endParaRPr sz="1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6"/>
          <p:cNvSpPr txBox="1">
            <a:spLocks noGrp="1"/>
          </p:cNvSpPr>
          <p:nvPr>
            <p:ph type="title"/>
          </p:nvPr>
        </p:nvSpPr>
        <p:spPr>
          <a:xfrm>
            <a:off x="676649" y="10058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Recommendations</a:t>
            </a:r>
            <a:endParaRPr b="1" dirty="0"/>
          </a:p>
        </p:txBody>
      </p:sp>
      <p:sp>
        <p:nvSpPr>
          <p:cNvPr id="2363" name="Google Shape;2363;p16"/>
          <p:cNvSpPr txBox="1"/>
          <p:nvPr/>
        </p:nvSpPr>
        <p:spPr>
          <a:xfrm>
            <a:off x="3364705" y="221456"/>
            <a:ext cx="5993608" cy="5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fr-FR" sz="1800" b="1" dirty="0">
              <a:solidFill>
                <a:srgbClr val="00CFDF"/>
              </a:solidFill>
              <a:latin typeface="Calibri"/>
            </a:endParaRPr>
          </a:p>
          <a:p>
            <a:endParaRPr lang="fr-FR" sz="1800" b="1" dirty="0">
              <a:solidFill>
                <a:srgbClr val="00CFDF"/>
              </a:solidFill>
              <a:latin typeface="Calibri"/>
            </a:endParaRPr>
          </a:p>
          <a:p>
            <a:r>
              <a:rPr lang="fr-FR" sz="3600" b="1" dirty="0">
                <a:solidFill>
                  <a:srgbClr val="FFFFFF"/>
                </a:solidFill>
                <a:latin typeface="+mn-lt"/>
              </a:rPr>
              <a:t>"Echoes of Xenoria</a:t>
            </a:r>
            <a:r>
              <a:rPr lang="fr-FR" sz="3600" b="1" dirty="0" smtClean="0">
                <a:solidFill>
                  <a:srgbClr val="FFFFFF"/>
                </a:solidFill>
                <a:latin typeface="+mn-lt"/>
              </a:rPr>
              <a:t>"</a:t>
            </a:r>
            <a:endParaRPr lang="fr-FR" sz="3600" b="1" dirty="0">
              <a:solidFill>
                <a:srgbClr val="FFFFFF"/>
              </a:solidFill>
              <a:latin typeface="+mn-lt"/>
            </a:endParaRPr>
          </a:p>
          <a:p>
            <a:r>
              <a:rPr lang="fr-FR" dirty="0">
                <a:solidFill>
                  <a:srgbClr val="D0CCFF"/>
                </a:solidFill>
                <a:latin typeface="+mn-lt"/>
              </a:rPr>
              <a:t>▸ Genre : Action / Aventure / RPG</a:t>
            </a:r>
          </a:p>
          <a:p>
            <a:r>
              <a:rPr lang="fr-FR" dirty="0">
                <a:solidFill>
                  <a:srgbClr val="D0CCFF"/>
                </a:solidFill>
                <a:latin typeface="+mn-lt"/>
              </a:rPr>
              <a:t>▸ Plateforme : PS5, Xbox Series X, PC</a:t>
            </a:r>
          </a:p>
          <a:p>
            <a:r>
              <a:rPr lang="fr-FR" dirty="0">
                <a:solidFill>
                  <a:srgbClr val="D0CCFF"/>
                </a:solidFill>
                <a:latin typeface="+mn-lt"/>
              </a:rPr>
              <a:t>▸ Mode : Solo narratif + Monde ouvert</a:t>
            </a:r>
          </a:p>
          <a:p>
            <a:r>
              <a:rPr lang="fr-FR" dirty="0">
                <a:solidFill>
                  <a:srgbClr val="D0CCFF"/>
                </a:solidFill>
                <a:latin typeface="+mn-lt"/>
              </a:rPr>
              <a:t>▸ Prix : 59,99 </a:t>
            </a:r>
            <a:r>
              <a:rPr lang="fr-FR" dirty="0" smtClean="0">
                <a:solidFill>
                  <a:srgbClr val="D0CCFF"/>
                </a:solidFill>
                <a:latin typeface="+mn-lt"/>
              </a:rPr>
              <a:t>€</a:t>
            </a:r>
            <a:endParaRPr lang="fr-FR" dirty="0">
              <a:solidFill>
                <a:srgbClr val="D0CCFF"/>
              </a:solidFill>
              <a:latin typeface="+mn-lt"/>
            </a:endParaRPr>
          </a:p>
          <a:p>
            <a:r>
              <a:rPr lang="fr-FR" dirty="0">
                <a:solidFill>
                  <a:srgbClr val="D0CCFF"/>
                </a:solidFill>
                <a:latin typeface="+mn-lt"/>
              </a:rPr>
              <a:t>▸ Cible : 25–34 ans, mixte H/F</a:t>
            </a:r>
          </a:p>
          <a:p>
            <a:pPr lvl="0"/>
            <a:r>
              <a:rPr lang="fr-FR" dirty="0">
                <a:solidFill>
                  <a:srgbClr val="D0CCFF"/>
                </a:solidFill>
                <a:latin typeface="+mn-lt"/>
              </a:rPr>
              <a:t>▸ Marché : France &amp; </a:t>
            </a:r>
            <a:r>
              <a:rPr lang="fr-FR" dirty="0" smtClean="0">
                <a:solidFill>
                  <a:srgbClr val="D0CCFF"/>
                </a:solidFill>
                <a:latin typeface="+mn-lt"/>
              </a:rPr>
              <a:t>International </a:t>
            </a:r>
          </a:p>
          <a:p>
            <a:pPr lvl="0"/>
            <a:r>
              <a:rPr lang="fr-FR" sz="1600" b="1" u="sng" dirty="0">
                <a:solidFill>
                  <a:srgbClr val="D0CCFF"/>
                </a:solidFill>
                <a:latin typeface="+mn-lt"/>
              </a:rPr>
              <a:t>Segments du jeu vidéo</a:t>
            </a:r>
          </a:p>
          <a:p>
            <a:pPr lvl="0"/>
            <a:endParaRPr lang="fr-FR" dirty="0">
              <a:solidFill>
                <a:srgbClr val="D0CCFF"/>
              </a:solidFill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plateforme : multi-plateformes (sur les consoles de Nintendo, </a:t>
            </a:r>
          </a:p>
          <a:p>
            <a:pPr lvl="0"/>
            <a:r>
              <a:rPr lang="fr-FR" dirty="0">
                <a:solidFill>
                  <a:srgbClr val="D0CCFF"/>
                </a:solidFill>
                <a:latin typeface="+mn-lt"/>
              </a:rPr>
              <a:t> </a:t>
            </a:r>
            <a:r>
              <a:rPr lang="fr-FR" dirty="0" smtClean="0">
                <a:solidFill>
                  <a:srgbClr val="D0CCFF"/>
                </a:solidFill>
                <a:latin typeface="+mn-lt"/>
              </a:rPr>
              <a:t>     Playstation </a:t>
            </a:r>
            <a:r>
              <a:rPr lang="fr-FR" dirty="0">
                <a:solidFill>
                  <a:srgbClr val="D0CCFF"/>
                </a:solidFill>
                <a:latin typeface="+mn-lt"/>
              </a:rPr>
              <a:t>et Xbox)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genre de jeu : Action / Aventure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modèle économique : monétisation hybride </a:t>
            </a:r>
            <a:r>
              <a:rPr lang="fr-FR" dirty="0" smtClean="0">
                <a:solidFill>
                  <a:srgbClr val="D0CCFF"/>
                </a:solidFill>
                <a:latin typeface="+mn-lt"/>
              </a:rPr>
              <a:t>(micro-transactions</a:t>
            </a:r>
            <a:r>
              <a:rPr lang="fr-FR" dirty="0">
                <a:solidFill>
                  <a:srgbClr val="D0CCFF"/>
                </a:solidFill>
                <a:latin typeface="+mn-lt"/>
              </a:rPr>
              <a:t>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démographie : adulte (PEGI 16)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région démographique : Monde (objectif de ventes : 1 000 000 unités/an)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type de jeu en ligne : mode multijoueur coopératif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D0CCFF"/>
                </a:solidFill>
                <a:latin typeface="+mn-lt"/>
              </a:rPr>
              <a:t>Par technologie : réalité virtuelle (VR) </a:t>
            </a:r>
            <a:endParaRPr lang="fr-FR" dirty="0" smtClean="0">
              <a:solidFill>
                <a:srgbClr val="D0CCFF"/>
              </a:solidFill>
              <a:latin typeface="+mn-lt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8" y="1080115"/>
            <a:ext cx="3043237" cy="39862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3497" y="222508"/>
            <a:ext cx="7717500" cy="572700"/>
          </a:xfrm>
        </p:spPr>
        <p:txBody>
          <a:bodyPr/>
          <a:lstStyle/>
          <a:p>
            <a:r>
              <a:rPr lang="en" b="1" dirty="0"/>
              <a:t>Recommandations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908048" y="795208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Coûts élevés de production d’un jeu </a:t>
            </a:r>
            <a:r>
              <a:rPr lang="fr-FR" dirty="0" smtClean="0">
                <a:solidFill>
                  <a:schemeClr val="accent3"/>
                </a:solidFill>
                <a:latin typeface="+mn-lt"/>
              </a:rPr>
              <a:t>AAA</a:t>
            </a:r>
          </a:p>
          <a:p>
            <a:endParaRPr lang="fr-FR" dirty="0" smtClean="0">
              <a:solidFill>
                <a:schemeClr val="accent3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3"/>
                </a:solidFill>
                <a:latin typeface="+mn-lt"/>
              </a:rPr>
              <a:t>Principale </a:t>
            </a:r>
            <a:r>
              <a:rPr lang="fr-FR" dirty="0">
                <a:solidFill>
                  <a:schemeClr val="accent3"/>
                </a:solidFill>
                <a:latin typeface="+mn-lt"/>
              </a:rPr>
              <a:t>raison : masse </a:t>
            </a:r>
            <a:r>
              <a:rPr lang="fr-FR" dirty="0" smtClean="0">
                <a:solidFill>
                  <a:schemeClr val="accent3"/>
                </a:solidFill>
                <a:latin typeface="+mn-lt"/>
              </a:rPr>
              <a:t>salariale</a:t>
            </a:r>
            <a:endParaRPr lang="fr-FR" dirty="0">
              <a:solidFill>
                <a:schemeClr val="accent3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Salaire moyen :  $ 100 000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Equipe </a:t>
            </a:r>
            <a:r>
              <a:rPr lang="fr-FR" dirty="0" smtClean="0">
                <a:solidFill>
                  <a:schemeClr val="accent3"/>
                </a:solidFill>
                <a:latin typeface="+mn-lt"/>
              </a:rPr>
              <a:t>:  400 </a:t>
            </a:r>
            <a:endParaRPr lang="fr-FR" dirty="0">
              <a:solidFill>
                <a:schemeClr val="accent3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Durée :   </a:t>
            </a:r>
            <a:r>
              <a:rPr lang="fr-FR" dirty="0" smtClean="0">
                <a:solidFill>
                  <a:schemeClr val="accent3"/>
                </a:solidFill>
                <a:latin typeface="+mn-lt"/>
              </a:rPr>
              <a:t>5 </a:t>
            </a:r>
            <a:r>
              <a:rPr lang="fr-FR" dirty="0">
                <a:solidFill>
                  <a:schemeClr val="accent3"/>
                </a:solidFill>
                <a:latin typeface="+mn-lt"/>
              </a:rPr>
              <a:t>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Total </a:t>
            </a:r>
            <a:r>
              <a:rPr lang="fr-FR">
                <a:solidFill>
                  <a:schemeClr val="accent3"/>
                </a:solidFill>
                <a:latin typeface="+mn-lt"/>
              </a:rPr>
              <a:t>: </a:t>
            </a:r>
            <a:r>
              <a:rPr lang="fr-FR" smtClean="0">
                <a:solidFill>
                  <a:schemeClr val="accent3"/>
                </a:solidFill>
                <a:latin typeface="+mn-lt"/>
              </a:rPr>
              <a:t>$ </a:t>
            </a:r>
            <a:r>
              <a:rPr lang="fr-FR" dirty="0">
                <a:solidFill>
                  <a:schemeClr val="accent3"/>
                </a:solidFill>
                <a:latin typeface="+mn-lt"/>
              </a:rPr>
              <a:t>200 000 000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Sans compter les coûts de marketing…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accent3"/>
              </a:solidFill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Pour baisser les coûts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accent3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Réduire le temps du jeu créé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Délocaliser la production dans les pays à faible coût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Optimiser la fiscalité et rechercher des subventions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Faire appel à l’IA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3"/>
                </a:solidFill>
                <a:latin typeface="+mn-lt"/>
              </a:rPr>
              <a:t>S’abonner à Newzoo </a:t>
            </a:r>
          </a:p>
        </p:txBody>
      </p:sp>
    </p:spTree>
    <p:extLst>
      <p:ext uri="{BB962C8B-B14F-4D97-AF65-F5344CB8AC3E}">
        <p14:creationId xmlns:p14="http://schemas.microsoft.com/office/powerpoint/2010/main" val="199684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60"/>
          <p:cNvSpPr>
            <a:spLocks noGrp="1"/>
          </p:cNvSpPr>
          <p:nvPr/>
        </p:nvSpPr>
        <p:spPr>
          <a:xfrm>
            <a:off x="969264" y="1213104"/>
            <a:ext cx="2517648" cy="1691640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 b="1" dirty="0">
                <a:solidFill>
                  <a:srgbClr val="00CFDF"/>
                </a:solidFill>
                <a:latin typeface="Calibri"/>
              </a:rPr>
              <a:t>  1</a:t>
            </a:r>
          </a:p>
          <a:p>
            <a:r>
              <a:rPr lang="fr-FR" sz="1800" b="1" dirty="0">
                <a:solidFill>
                  <a:srgbClr val="FFFFFF"/>
                </a:solidFill>
                <a:latin typeface="Calibri"/>
              </a:rPr>
              <a:t>Cibler les 25–34 ans</a:t>
            </a:r>
          </a:p>
          <a:p>
            <a:pPr algn="l"/>
            <a:r>
              <a:rPr lang="fr-FR" b="0" dirty="0">
                <a:solidFill>
                  <a:srgbClr val="A8A4E0"/>
                </a:solidFill>
                <a:latin typeface="Calibri"/>
              </a:rPr>
              <a:t>Segment dominant (56,3%), fort pouvoir achat, 87% actifs</a:t>
            </a:r>
          </a:p>
        </p:txBody>
      </p:sp>
      <p:sp>
        <p:nvSpPr>
          <p:cNvPr id="4" name="S61"/>
          <p:cNvSpPr>
            <a:spLocks noGrp="1"/>
          </p:cNvSpPr>
          <p:nvPr/>
        </p:nvSpPr>
        <p:spPr>
          <a:xfrm>
            <a:off x="5283708" y="1213104"/>
            <a:ext cx="2706624" cy="1691640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 b="1" dirty="0">
                <a:solidFill>
                  <a:srgbClr val="F59E0B"/>
                </a:solidFill>
                <a:latin typeface="Calibri"/>
              </a:rPr>
              <a:t>  2</a:t>
            </a:r>
          </a:p>
          <a:p>
            <a:pPr algn="l"/>
            <a:r>
              <a:rPr lang="fr-FR" sz="1800" b="1" dirty="0">
                <a:solidFill>
                  <a:srgbClr val="FFFFFF"/>
                </a:solidFill>
                <a:latin typeface="Calibri"/>
              </a:rPr>
              <a:t>Monde ouvert + RPG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Genres Action/Aventure = 17% part marché mondiale</a:t>
            </a:r>
          </a:p>
        </p:txBody>
      </p:sp>
      <p:sp>
        <p:nvSpPr>
          <p:cNvPr id="5" name="S62"/>
          <p:cNvSpPr>
            <a:spLocks noGrp="1"/>
          </p:cNvSpPr>
          <p:nvPr/>
        </p:nvSpPr>
        <p:spPr>
          <a:xfrm>
            <a:off x="969264" y="3225104"/>
            <a:ext cx="2517648" cy="1691640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 b="1" dirty="0">
                <a:solidFill>
                  <a:srgbClr val="22C55E"/>
                </a:solidFill>
                <a:latin typeface="Calibri"/>
              </a:rPr>
              <a:t>  3</a:t>
            </a:r>
          </a:p>
          <a:p>
            <a:r>
              <a:rPr lang="fr-FR" sz="1800" b="1" dirty="0">
                <a:solidFill>
                  <a:srgbClr val="FFFFFF"/>
                </a:solidFill>
                <a:latin typeface="Calibri"/>
              </a:rPr>
              <a:t>Prix : 59,99 €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87,5% des répondants acceptent max 40-50€ — budget AAA viable</a:t>
            </a:r>
          </a:p>
        </p:txBody>
      </p:sp>
      <p:sp>
        <p:nvSpPr>
          <p:cNvPr id="6" name="S63"/>
          <p:cNvSpPr>
            <a:spLocks noGrp="1"/>
          </p:cNvSpPr>
          <p:nvPr/>
        </p:nvSpPr>
        <p:spPr>
          <a:xfrm>
            <a:off x="5283708" y="3225104"/>
            <a:ext cx="2799588" cy="1691640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2000" b="1" dirty="0">
                <a:solidFill>
                  <a:srgbClr val="A288E2"/>
                </a:solidFill>
                <a:latin typeface="Calibri"/>
              </a:rPr>
              <a:t>  4</a:t>
            </a:r>
          </a:p>
          <a:p>
            <a:r>
              <a:rPr lang="fr-FR" sz="1800" b="1" dirty="0">
                <a:solidFill>
                  <a:srgbClr val="FFFFFF"/>
                </a:solidFill>
                <a:latin typeface="Calibri"/>
              </a:rPr>
              <a:t>Distribution digitale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88% des ventes dématérialisées en 2024 — Steam + PS Store</a:t>
            </a:r>
          </a:p>
        </p:txBody>
      </p:sp>
      <p:sp>
        <p:nvSpPr>
          <p:cNvPr id="7" name="Google Shape;236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b="1" dirty="0"/>
              <a:t>Recommandations stratégiques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724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17"/>
          <p:cNvSpPr txBox="1">
            <a:spLocks noGrp="1"/>
          </p:cNvSpPr>
          <p:nvPr>
            <p:ph type="title" idx="8"/>
          </p:nvPr>
        </p:nvSpPr>
        <p:spPr>
          <a:xfrm>
            <a:off x="713225" y="539499"/>
            <a:ext cx="7717500" cy="4074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6600"/>
              <a:t>Annexes des slides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 idx="8"/>
          </p:nvPr>
        </p:nvSpPr>
        <p:spPr>
          <a:xfrm>
            <a:off x="597445" y="206808"/>
            <a:ext cx="7717500" cy="565200"/>
          </a:xfrm>
        </p:spPr>
        <p:txBody>
          <a:bodyPr/>
          <a:lstStyle/>
          <a:p>
            <a:r>
              <a:rPr lang="fr-FR" sz="3600" b="1" dirty="0">
                <a:solidFill>
                  <a:srgbClr val="FFFFFF"/>
                </a:solidFill>
                <a:latin typeface="Calibri"/>
              </a:rPr>
              <a:t>Annexes — Corrélation Khi² (Power BI)</a:t>
            </a:r>
          </a:p>
        </p:txBody>
      </p:sp>
      <p:sp>
        <p:nvSpPr>
          <p:cNvPr id="11" name="S82"/>
          <p:cNvSpPr>
            <a:spLocks noGrp="1"/>
          </p:cNvSpPr>
          <p:nvPr/>
        </p:nvSpPr>
        <p:spPr>
          <a:xfrm>
            <a:off x="548640" y="7720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fr-FR" sz="1000" b="0" dirty="0">
                <a:solidFill>
                  <a:schemeClr val="accent3"/>
                </a:solidFill>
                <a:latin typeface="Calibri"/>
              </a:rPr>
              <a:t>Matrice Genre × Plateforme + Test χ² — réalisé dans Power BI </a:t>
            </a:r>
          </a:p>
        </p:txBody>
      </p:sp>
      <p:pic>
        <p:nvPicPr>
          <p:cNvPr id="12" name="PowerBI_Khi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70" y="1046328"/>
            <a:ext cx="8040650" cy="3438144"/>
          </a:xfrm>
          <a:prstGeom prst="rect">
            <a:avLst/>
          </a:prstGeom>
        </p:spPr>
      </p:pic>
      <p:sp>
        <p:nvSpPr>
          <p:cNvPr id="13" name="S91"/>
          <p:cNvSpPr>
            <a:spLocks noGrp="1"/>
          </p:cNvSpPr>
          <p:nvPr/>
        </p:nvSpPr>
        <p:spPr>
          <a:xfrm>
            <a:off x="274320" y="4572000"/>
            <a:ext cx="2743200" cy="475488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400" b="1" dirty="0">
                <a:solidFill>
                  <a:srgbClr val="00CFDF"/>
                </a:solidFill>
                <a:latin typeface="Calibri"/>
              </a:rPr>
              <a:t>χ² = 5 170</a:t>
            </a:r>
          </a:p>
          <a:p>
            <a:pPr algn="l"/>
            <a:r>
              <a:rPr lang="fr-FR" sz="800" b="0" dirty="0">
                <a:solidFill>
                  <a:srgbClr val="A8A4E0"/>
                </a:solidFill>
                <a:latin typeface="Calibri"/>
              </a:rPr>
              <a:t>Chi2 Total calculé</a:t>
            </a:r>
          </a:p>
        </p:txBody>
      </p:sp>
      <p:sp>
        <p:nvSpPr>
          <p:cNvPr id="14" name="S92"/>
          <p:cNvSpPr>
            <a:spLocks noGrp="1"/>
          </p:cNvSpPr>
          <p:nvPr/>
        </p:nvSpPr>
        <p:spPr>
          <a:xfrm>
            <a:off x="3172968" y="4572000"/>
            <a:ext cx="2743200" cy="475488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400" b="1" dirty="0">
                <a:solidFill>
                  <a:srgbClr val="F59E0B"/>
                </a:solidFill>
                <a:latin typeface="Calibri"/>
              </a:rPr>
              <a:t>df = 264</a:t>
            </a:r>
          </a:p>
          <a:p>
            <a:pPr algn="l"/>
            <a:r>
              <a:rPr lang="fr-FR" sz="800" b="0" dirty="0">
                <a:solidFill>
                  <a:srgbClr val="A8A4E0"/>
                </a:solidFill>
                <a:latin typeface="Calibri"/>
              </a:rPr>
              <a:t>Degrés de liberté</a:t>
            </a:r>
          </a:p>
        </p:txBody>
      </p:sp>
      <p:sp>
        <p:nvSpPr>
          <p:cNvPr id="15" name="S93"/>
          <p:cNvSpPr>
            <a:spLocks noGrp="1"/>
          </p:cNvSpPr>
          <p:nvPr/>
        </p:nvSpPr>
        <p:spPr>
          <a:xfrm>
            <a:off x="6071616" y="4572000"/>
            <a:ext cx="2743200" cy="475488"/>
          </a:xfrm>
          <a:prstGeom prst="rect">
            <a:avLst/>
          </a:prstGeom>
          <a:solidFill>
            <a:srgbClr val="3D379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fr-FR" sz="1400" b="1" dirty="0">
                <a:solidFill>
                  <a:srgbClr val="22C55E"/>
                </a:solidFill>
                <a:latin typeface="Calibri"/>
              </a:rPr>
              <a:t>p &lt; 0,001</a:t>
            </a:r>
          </a:p>
          <a:p>
            <a:pPr algn="l"/>
            <a:r>
              <a:rPr lang="fr-FR" sz="800" b="0" dirty="0">
                <a:solidFill>
                  <a:srgbClr val="A8A4E0"/>
                </a:solidFill>
                <a:latin typeface="Calibri"/>
              </a:rPr>
              <a:t>H0 </a:t>
            </a:r>
            <a:r>
              <a:rPr lang="fr-FR" sz="800" b="0" dirty="0" smtClean="0">
                <a:solidFill>
                  <a:srgbClr val="A8A4E0"/>
                </a:solidFill>
                <a:latin typeface="Calibri"/>
              </a:rPr>
              <a:t>rejetée </a:t>
            </a:r>
            <a:endParaRPr lang="fr-FR" sz="800" b="0" dirty="0">
              <a:solidFill>
                <a:srgbClr val="A8A4E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90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362;p16"/>
          <p:cNvSpPr txBox="1">
            <a:spLocks noGrp="1"/>
          </p:cNvSpPr>
          <p:nvPr>
            <p:ph type="title" idx="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b="1" dirty="0"/>
              <a:t>Sondage pour le lancement d’un jeu vidéo</a:t>
            </a:r>
            <a:endParaRPr sz="28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AB58C80C-1F11-A594-4150-C0217523E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54" y="4322490"/>
            <a:ext cx="1305996" cy="701101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74" y="1251004"/>
            <a:ext cx="4326598" cy="2650436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51" y="1251004"/>
            <a:ext cx="3970775" cy="265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98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362;p16"/>
          <p:cNvSpPr txBox="1">
            <a:spLocks noGrp="1"/>
          </p:cNvSpPr>
          <p:nvPr>
            <p:ph type="title" idx="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b="1" dirty="0"/>
              <a:t>Sondage pour le lancement d’un jeu vidéo</a:t>
            </a:r>
            <a:endParaRPr sz="28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AB58C80C-1F11-A594-4150-C0217523E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54" y="4322490"/>
            <a:ext cx="1305996" cy="701101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" y="1065540"/>
            <a:ext cx="4617562" cy="32961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516" y="1019250"/>
            <a:ext cx="3915454" cy="338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46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362;p16"/>
          <p:cNvSpPr txBox="1">
            <a:spLocks noGrp="1"/>
          </p:cNvSpPr>
          <p:nvPr>
            <p:ph type="title" idx="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b="1" dirty="0"/>
              <a:t>Sondage pour le lancement d’un jeu vidéo</a:t>
            </a:r>
            <a:endParaRPr sz="28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AB58C80C-1F11-A594-4150-C0217523E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54" y="4322490"/>
            <a:ext cx="1305996" cy="70110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75" y="1481754"/>
            <a:ext cx="4243237" cy="284073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75" y="1481754"/>
            <a:ext cx="4441414" cy="284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07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362;p16"/>
          <p:cNvSpPr txBox="1">
            <a:spLocks noGrp="1"/>
          </p:cNvSpPr>
          <p:nvPr>
            <p:ph type="title" idx="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b="1" dirty="0"/>
              <a:t>Sondage pour le lancement d’un jeu vidéo</a:t>
            </a:r>
            <a:endParaRPr sz="2800" b="1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xmlns="" id="{AB58C80C-1F11-A594-4150-C0217523E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54" y="4322490"/>
            <a:ext cx="1305996" cy="701101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42" y="1168046"/>
            <a:ext cx="4358689" cy="309109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08" y="1168046"/>
            <a:ext cx="3972073" cy="315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07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3"/>
          <p:cNvSpPr>
            <a:spLocks noGrp="1"/>
          </p:cNvSpPr>
          <p:nvPr>
            <p:ph type="title" idx="8"/>
          </p:nvPr>
        </p:nvSpPr>
        <p:spPr>
          <a:xfrm>
            <a:off x="128009" y="121609"/>
            <a:ext cx="7717500" cy="565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Sources utilisées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128009" y="625828"/>
            <a:ext cx="4572000" cy="20005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dirty="0" smtClean="0">
                <a:solidFill>
                  <a:srgbClr val="00CFDF"/>
                </a:solidFill>
                <a:latin typeface="Calibri"/>
              </a:rPr>
              <a:t>MARCHÉ MONDIAL &amp; TENDANCES ACTUELLES</a:t>
            </a:r>
          </a:p>
          <a:p>
            <a:r>
              <a:rPr lang="fr-FR" dirty="0" smtClean="0">
                <a:solidFill>
                  <a:srgbClr val="A8A4E0"/>
                </a:solidFill>
                <a:latin typeface="Calibri"/>
              </a:rPr>
              <a:t>Slides 6, 7, 9, 10, 11, 12</a:t>
            </a:r>
          </a:p>
          <a:p>
            <a:r>
              <a:rPr lang="fr-FR" dirty="0" smtClean="0">
                <a:solidFill>
                  <a:srgbClr val="FFFFFF"/>
                </a:solidFill>
                <a:latin typeface="Calibri"/>
              </a:rPr>
              <a:t>• Newzoo — Global Games Market Report 2026</a:t>
            </a:r>
          </a:p>
          <a:p>
            <a:r>
              <a:rPr lang="fr-FR" dirty="0" smtClean="0">
                <a:solidFill>
                  <a:srgbClr val="FFFFFF"/>
                </a:solidFill>
                <a:latin typeface="Calibri"/>
              </a:rPr>
              <a:t>• SELL — Bilan Marché Jeu Vidéo France 2024 (sell.fr)</a:t>
            </a:r>
          </a:p>
          <a:p>
            <a:r>
              <a:rPr lang="fr-FR" dirty="0" smtClean="0">
                <a:solidFill>
                  <a:srgbClr val="FFFFFF"/>
                </a:solidFill>
                <a:latin typeface="Calibri"/>
              </a:rPr>
              <a:t>• Counterpoint Research — Console Market Share 2023</a:t>
            </a:r>
          </a:p>
          <a:p>
            <a:r>
              <a:rPr lang="fr-FR" dirty="0" smtClean="0">
                <a:solidFill>
                  <a:srgbClr val="FFFFFF"/>
                </a:solidFill>
                <a:latin typeface="Calibri"/>
              </a:rPr>
              <a:t>• Circana / PlayStation Blog — Best Sellers US 2025</a:t>
            </a:r>
          </a:p>
          <a:p>
            <a:r>
              <a:rPr lang="fr-FR" dirty="0" smtClean="0">
                <a:solidFill>
                  <a:srgbClr val="FFFFFF"/>
                </a:solidFill>
                <a:latin typeface="Calibri"/>
              </a:rPr>
              <a:t>• SQ Magazine — Marché Console 2025</a:t>
            </a:r>
            <a:endParaRPr lang="fr-FR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00009" y="686809"/>
            <a:ext cx="4572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dirty="0" smtClean="0">
                <a:solidFill>
                  <a:srgbClr val="F59E0B"/>
                </a:solidFill>
                <a:latin typeface="Calibri"/>
              </a:rPr>
              <a:t>FUTURES </a:t>
            </a:r>
            <a:r>
              <a:rPr lang="fr-FR" sz="2000" b="1" dirty="0">
                <a:solidFill>
                  <a:srgbClr val="F59E0B"/>
                </a:solidFill>
                <a:latin typeface="Calibri"/>
              </a:rPr>
              <a:t>TENDANCES &amp; PERSPECTIVES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Slides 14, 15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Grand View Research — Video Game Market 2020–2030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Fortune Business Insights — Gaming Market 2026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Newzoo — PC Player Base Forecast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09" y="2626376"/>
            <a:ext cx="4572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dirty="0" smtClean="0">
                <a:solidFill>
                  <a:srgbClr val="22C55E"/>
                </a:solidFill>
                <a:latin typeface="Calibri"/>
              </a:rPr>
              <a:t>ANALYSES </a:t>
            </a:r>
            <a:r>
              <a:rPr lang="fr-FR" sz="2000" b="1" dirty="0">
                <a:solidFill>
                  <a:srgbClr val="22C55E"/>
                </a:solidFill>
                <a:latin typeface="Calibri"/>
              </a:rPr>
              <a:t>DES SEGMENTS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Slides 17, 18, 19, 20, 21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VGChartz / Kaggle — Video Game Sales 1980–2016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SELL 2026 | BDM 2025 | Observatoire Européen JV 2025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AFJV — Annuaire Français du Jeu Vidéo </a:t>
            </a:r>
            <a:r>
              <a:rPr lang="fr-FR" dirty="0" smtClean="0">
                <a:solidFill>
                  <a:srgbClr val="FFFFFF"/>
                </a:solidFill>
                <a:latin typeface="Calibri"/>
              </a:rPr>
              <a:t>2025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Observatoire Européen JV 2025</a:t>
            </a:r>
          </a:p>
          <a:p>
            <a:endParaRPr lang="fr-FR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36005" y="1794805"/>
            <a:ext cx="4572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dirty="0" smtClean="0">
                <a:solidFill>
                  <a:srgbClr val="EF4444"/>
                </a:solidFill>
                <a:latin typeface="Calibri"/>
              </a:rPr>
              <a:t>CONTEXTE </a:t>
            </a:r>
            <a:r>
              <a:rPr lang="fr-FR" sz="2000" b="1" dirty="0">
                <a:solidFill>
                  <a:srgbClr val="EF4444"/>
                </a:solidFill>
                <a:latin typeface="Calibri"/>
              </a:rPr>
              <a:t>&amp; ANALYSE SWOT/PESTEL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Slides 4, 6, 7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Newzoo 2026 — Esports &amp; Streaming audience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SELL 2026 — 40,2 M joueurs France | Parité 51/49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Belgique / Pays-Bas — Régulation loot boxes (PESTEL)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99874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dirty="0" smtClean="0">
                <a:solidFill>
                  <a:srgbClr val="F97316"/>
                </a:solidFill>
                <a:latin typeface="Calibri"/>
              </a:rPr>
              <a:t>RECOMMANDATIONS </a:t>
            </a:r>
            <a:r>
              <a:rPr lang="fr-FR" sz="2000" b="1" dirty="0">
                <a:solidFill>
                  <a:srgbClr val="F97316"/>
                </a:solidFill>
                <a:latin typeface="Calibri"/>
              </a:rPr>
              <a:t>STRATÉGIQUES</a:t>
            </a:r>
          </a:p>
          <a:p>
            <a:r>
              <a:rPr lang="fr-FR" dirty="0">
                <a:solidFill>
                  <a:srgbClr val="A8A4E0"/>
                </a:solidFill>
                <a:latin typeface="Calibri"/>
              </a:rPr>
              <a:t>Slides </a:t>
            </a:r>
            <a:r>
              <a:rPr lang="fr-FR" dirty="0" smtClean="0">
                <a:solidFill>
                  <a:srgbClr val="A8A4E0"/>
                </a:solidFill>
                <a:latin typeface="Calibri"/>
              </a:rPr>
              <a:t>25,26</a:t>
            </a:r>
            <a:r>
              <a:rPr lang="fr-FR" dirty="0">
                <a:solidFill>
                  <a:srgbClr val="A8A4E0"/>
                </a:solidFill>
                <a:latin typeface="Calibri"/>
              </a:rPr>
              <a:t>, 27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SELL 2026 — 88% ventes dématérialisées en 2024</a:t>
            </a:r>
          </a:p>
          <a:p>
            <a:r>
              <a:rPr lang="fr-FR" dirty="0">
                <a:solidFill>
                  <a:srgbClr val="FFFFFF"/>
                </a:solidFill>
                <a:latin typeface="Calibri"/>
              </a:rPr>
              <a:t>• Newzoo — Abonnement &amp; Distribution digitale </a:t>
            </a:r>
            <a:r>
              <a:rPr lang="fr-FR" dirty="0" smtClean="0">
                <a:solidFill>
                  <a:srgbClr val="FFFFFF"/>
                </a:solidFill>
                <a:latin typeface="Calibri"/>
              </a:rPr>
              <a:t>AAA</a:t>
            </a:r>
          </a:p>
          <a:p>
            <a:r>
              <a:rPr lang="fr-FR" dirty="0" smtClean="0">
                <a:solidFill>
                  <a:srgbClr val="FFFFFF"/>
                </a:solidFill>
                <a:latin typeface="Calibri"/>
              </a:rPr>
              <a:t>•VGChartz </a:t>
            </a:r>
            <a:r>
              <a:rPr lang="fr-FR" dirty="0">
                <a:solidFill>
                  <a:srgbClr val="FFFFFF"/>
                </a:solidFill>
                <a:latin typeface="Calibri"/>
              </a:rPr>
              <a:t>— GTA V 205 M unités vendues (réf. AAA)</a:t>
            </a:r>
          </a:p>
          <a:p>
            <a:endParaRPr lang="fr-FR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908704"/>
      </p:ext>
    </p:extLst>
  </p:cSld>
  <p:clrMapOvr>
    <a:masterClrMapping/>
  </p:clrMapOvr>
</p:sld>
</file>

<file path=ppt/theme/theme1.xml><?xml version="1.0" encoding="utf-8"?>
<a:theme xmlns:a="http://schemas.openxmlformats.org/drawingml/2006/main" name="Big Data Science Consulting Toolkit by Slidesgo">
  <a:themeElements>
    <a:clrScheme name="Simple Light">
      <a:dk1>
        <a:srgbClr val="351C75"/>
      </a:dk1>
      <a:lt1>
        <a:srgbClr val="FFFFFF"/>
      </a:lt1>
      <a:dk2>
        <a:srgbClr val="674EA7"/>
      </a:dk2>
      <a:lt2>
        <a:srgbClr val="FFFFFF"/>
      </a:lt2>
      <a:accent1>
        <a:srgbClr val="00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22620</TotalTime>
  <Words>1336</Words>
  <Application>Microsoft Office PowerPoint</Application>
  <PresentationFormat>Affichage à l'écran (16:9)</PresentationFormat>
  <Paragraphs>260</Paragraphs>
  <Slides>35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4" baseType="lpstr">
      <vt:lpstr>Space Grotesk</vt:lpstr>
      <vt:lpstr>Arial</vt:lpstr>
      <vt:lpstr>Montserrat</vt:lpstr>
      <vt:lpstr>Wingdings</vt:lpstr>
      <vt:lpstr>Space Grotesk Light</vt:lpstr>
      <vt:lpstr>Dosis</vt:lpstr>
      <vt:lpstr>Space Grotesk Medium</vt:lpstr>
      <vt:lpstr>Calibri</vt:lpstr>
      <vt:lpstr>Big Data Science Consulting Toolkit by Slidesgo</vt:lpstr>
      <vt:lpstr>Analyse du Marché des Jeux Vidéo &amp; Recommandation de Genre</vt:lpstr>
      <vt:lpstr>Sommaire</vt:lpstr>
      <vt:lpstr>Le contexte</vt:lpstr>
      <vt:lpstr>Définir le contexte</vt:lpstr>
      <vt:lpstr>La matrice SWOT</vt:lpstr>
      <vt:lpstr>Matrice SWOT</vt:lpstr>
      <vt:lpstr>Environmental</vt:lpstr>
      <vt:lpstr>  Analyses des tendances actuelles  </vt:lpstr>
      <vt:lpstr>Tendances actuelles</vt:lpstr>
      <vt:lpstr>Présentation PowerPoint</vt:lpstr>
      <vt:lpstr>Présentation PowerPoint</vt:lpstr>
      <vt:lpstr>Tendances mondiales — Données Newzoo 2026</vt:lpstr>
      <vt:lpstr>Profil des joueurs en France 2025</vt:lpstr>
      <vt:lpstr>Les futures tendances et perspectives</vt:lpstr>
      <vt:lpstr>Tendances futures</vt:lpstr>
      <vt:lpstr>Analyses des segments</vt:lpstr>
      <vt:lpstr>Analyses des segments</vt:lpstr>
      <vt:lpstr>Analyses du ou des segments</vt:lpstr>
      <vt:lpstr>Marché des Jeux Vidéo 1980–2016 — Ventes par Genre &amp; Plateforme</vt:lpstr>
      <vt:lpstr>Genre recommandé — Attractivité &amp; Volume de marché</vt:lpstr>
      <vt:lpstr>Présentation PowerPoint</vt:lpstr>
      <vt:lpstr>Client Cible — Résultats du Questionnaire </vt:lpstr>
      <vt:lpstr>Corrélation entre les 2 segments</vt:lpstr>
      <vt:lpstr>Sondage — Résultats du questionnaire (10+ répondants)</vt:lpstr>
      <vt:lpstr>Recommandations stratégiques</vt:lpstr>
      <vt:lpstr>Recommendations</vt:lpstr>
      <vt:lpstr>Recommandations</vt:lpstr>
      <vt:lpstr>Recommandations stratégiques</vt:lpstr>
      <vt:lpstr>Annexes des slides</vt:lpstr>
      <vt:lpstr>Annexes — Corrélation Khi² (Power BI)</vt:lpstr>
      <vt:lpstr>Sondage pour le lancement d’un jeu vidéo</vt:lpstr>
      <vt:lpstr>Sondage pour le lancement d’un jeu vidéo</vt:lpstr>
      <vt:lpstr>Sondage pour le lancement d’un jeu vidéo</vt:lpstr>
      <vt:lpstr>Sondage pour le lancement d’un jeu vidéo</vt:lpstr>
      <vt:lpstr>Références &amp; Sources utilisées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Service marketing</dc:title>
  <dc:creator>Jeremy</dc:creator>
  <cp:lastModifiedBy>labhih safae</cp:lastModifiedBy>
  <cp:revision>98</cp:revision>
  <dcterms:modified xsi:type="dcterms:W3CDTF">2026-05-06T21:55:08Z</dcterms:modified>
</cp:coreProperties>
</file>